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1_F67C2BF7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1" r:id="rId5"/>
    <p:sldId id="260" r:id="rId6"/>
    <p:sldId id="68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5C1BD0-2112-708C-89D2-260F0E353C09}" name="Richard Cooley" initials="RC" userId="c5efc0c0ce78526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21"/>
    <p:restoredTop sz="94694"/>
  </p:normalViewPr>
  <p:slideViewPr>
    <p:cSldViewPr snapToGrid="0">
      <p:cViewPr varScale="1">
        <p:scale>
          <a:sx n="105" d="100"/>
          <a:sy n="105" d="100"/>
        </p:scale>
        <p:origin x="6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omments/modernComment_101_F67C2BF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7EE9E8E-40BD-4660-83EE-64602A638439}" authorId="{955C1BD0-2112-708C-89D2-260F0E353C09}" created="2024-05-14T17:11:29.90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135332855" sldId="257"/>
      <ac:graphicFrameMk id="3" creationId="{3954B679-6019-5A90-521D-95FABFFFABD1}"/>
      <ac:tblMk/>
      <ac:tcMk rowId="3802971103" colId="1312797735"/>
      <ac:txMk cp="0" len="1">
        <ac:context len="2" hash="2521"/>
      </ac:txMk>
    </ac:txMkLst>
    <p188:pos x="4405611" y="1113183"/>
    <p188:txBody>
      <a:bodyPr/>
      <a:lstStyle/>
      <a:p>
        <a:r>
          <a:rPr lang="en-US"/>
          <a:t>Mb 274 is Leu I believe.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BEB30-00D9-9941-48B9-71E60A2EB3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B869B4-40EF-B8C7-10D3-A5C639DDAD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68709-BA16-4B6B-285E-CEB70BB45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C9820-A9D2-8A4E-BA06-715F97749AD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7AF12-DAFE-7943-43E1-8A1EC9EBD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B556C-BDB0-5617-C4C4-E21252679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41A2B-9500-E048-B701-DA767C79B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721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BBB70-A845-D97E-C1CA-55B8717E6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45A98-AEF0-9E52-913B-5B1B6BA55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90FEC-AD47-61F0-09E9-EAD9F9A73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C9820-A9D2-8A4E-BA06-715F97749AD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19370-9047-2D3C-BB32-5CC5688C1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07AC6-2FE9-885C-1F23-AFC00A58C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41A2B-9500-E048-B701-DA767C79B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236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D1AA4-A702-8E5D-BF0E-5DC1F6856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C3B02-D803-C258-5037-756F9A6B9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A80DE-424A-0115-A24E-27E7C37E4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C9820-A9D2-8A4E-BA06-715F97749AD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EF5A9-9F56-6B40-9E13-2E1997BAB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B3F92-2F42-32E9-F8D2-DA210D98D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41A2B-9500-E048-B701-DA767C79B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345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4D80D-F3B3-1ED0-9E2D-18481DCD2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36D91-912B-67F6-6679-B05BBCB665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C9ED67-F6FD-0411-F79C-C7233F7981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E8653C-2815-C940-2D59-1804E4791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C9820-A9D2-8A4E-BA06-715F97749AD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78266F-555E-3428-82A6-59C2BB4A5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7A41D3-4338-F0A5-6A1A-0A510289A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41A2B-9500-E048-B701-DA767C79B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212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A71D4-3D1F-4D96-EBDA-9F2F58196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07343-07BD-CD45-35E6-4EB7FEEB8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E221F6-18CD-6C7C-B5E8-1F1C2DA02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40FF77-7027-97CA-EFB0-56B577DB43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FD13D0-58F4-3F50-F7DA-E0D1F193FA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DE205B-C8AD-C5B2-EEC5-C4350972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C9820-A9D2-8A4E-BA06-715F97749AD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90761D-0C73-03FD-6218-028EBF6A1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1BA06D-BC98-319A-7D7E-1858E7322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41A2B-9500-E048-B701-DA767C79B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917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EEB22-A833-6D34-4719-EE9114634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5852AC-CFF7-F8AE-3B15-1BFCE19F7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C9820-A9D2-8A4E-BA06-715F97749AD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66A5C5-CA15-6341-1F43-16F678F32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D37F26-0314-8CC9-B4F6-1ED355EEB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41A2B-9500-E048-B701-DA767C79B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987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428F2C-E2E1-CAD8-3F9D-F2E7AFC78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C9820-A9D2-8A4E-BA06-715F97749AD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03183A-C632-8813-4875-153019711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44FCC-796A-E669-743F-8F96DEEAA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41A2B-9500-E048-B701-DA767C79B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299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719FC-6FEC-ABD2-3EC0-97F06E959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E4407-88DC-45A5-6EF4-84B159C31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11FAED-9627-930C-672C-6E3BAC054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29568B-FADA-A124-A0C6-A95C19012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C9820-A9D2-8A4E-BA06-715F97749AD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0AD86-A7B3-7075-0714-E1EC19F58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44491-9A66-BD92-63FD-FD9D9041F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41A2B-9500-E048-B701-DA767C79B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255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3816A-DFD9-437D-5442-A82175A18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26F853-123C-E6A8-16EA-F601974776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6BE48A-80EF-6696-79AD-65F925D6E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12BF5E-03BC-9DD1-78FF-75E28F4AD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C9820-A9D2-8A4E-BA06-715F97749AD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752E8-15C1-F84E-BF33-0B96C7D48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DD36D-B17A-0C7D-A77B-7F2E95E22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41A2B-9500-E048-B701-DA767C79B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751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BD4CB-5297-FA36-3939-8B5F0CE6A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04838-AB0A-A0DF-A04A-931EF8EE6C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C3405-34DF-2C0B-ED9F-A793A28A3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C9820-A9D2-8A4E-BA06-715F97749AD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A3C05-4412-FE98-5C82-B30FDCF8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0FF41-FC29-BA6E-829F-5C6103045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41A2B-9500-E048-B701-DA767C79B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489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3A3685-0677-1FFF-35FF-0136D9B585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2F91DA-6D12-A203-9F76-B2932398A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CB6C9-BEA3-9A31-1AF9-8D6E52C64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C9820-A9D2-8A4E-BA06-715F97749AD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5518D-8495-F86A-63F2-3D52A85A9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B859C-936E-3295-3BF6-AA501A2E7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41A2B-9500-E048-B701-DA767C79B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87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E18FA5-2A22-545F-A320-F44359A03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87080-E6D5-A88E-61EE-959DC67C4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CA9DB-DB44-4F49-1146-5289CA7FF8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6C9820-A9D2-8A4E-BA06-715F97749AD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82463-5F58-8153-1FC8-1D7323F944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6F138-9E90-1FE5-5114-BC60896FE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E41A2B-9500-E048-B701-DA767C79B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823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1_F67C2BF7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21/acschembio.2c00016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9434C0-2940-4CE1-E042-0C3F1D9BDF2A}"/>
              </a:ext>
            </a:extLst>
          </p:cNvPr>
          <p:cNvSpPr txBox="1"/>
          <p:nvPr/>
        </p:nvSpPr>
        <p:spPr>
          <a:xfrm>
            <a:off x="23750" y="0"/>
            <a:ext cx="7612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Proposed Active-Site Transplant Mutations (Mb and Ma)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954B679-6019-5A90-521D-95FABFFFAB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031786"/>
              </p:ext>
            </p:extLst>
          </p:nvPr>
        </p:nvGraphicFramePr>
        <p:xfrm>
          <a:off x="237067" y="609600"/>
          <a:ext cx="9635067" cy="4165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0563">
                  <a:extLst>
                    <a:ext uri="{9D8B030D-6E8A-4147-A177-3AD203B41FA5}">
                      <a16:colId xmlns:a16="http://schemas.microsoft.com/office/drawing/2014/main" val="2656353990"/>
                    </a:ext>
                  </a:extLst>
                </a:gridCol>
                <a:gridCol w="1070563">
                  <a:extLst>
                    <a:ext uri="{9D8B030D-6E8A-4147-A177-3AD203B41FA5}">
                      <a16:colId xmlns:a16="http://schemas.microsoft.com/office/drawing/2014/main" val="2967653625"/>
                    </a:ext>
                  </a:extLst>
                </a:gridCol>
                <a:gridCol w="1070563">
                  <a:extLst>
                    <a:ext uri="{9D8B030D-6E8A-4147-A177-3AD203B41FA5}">
                      <a16:colId xmlns:a16="http://schemas.microsoft.com/office/drawing/2014/main" val="362309918"/>
                    </a:ext>
                  </a:extLst>
                </a:gridCol>
                <a:gridCol w="1070563">
                  <a:extLst>
                    <a:ext uri="{9D8B030D-6E8A-4147-A177-3AD203B41FA5}">
                      <a16:colId xmlns:a16="http://schemas.microsoft.com/office/drawing/2014/main" val="3376701671"/>
                    </a:ext>
                  </a:extLst>
                </a:gridCol>
                <a:gridCol w="1070563">
                  <a:extLst>
                    <a:ext uri="{9D8B030D-6E8A-4147-A177-3AD203B41FA5}">
                      <a16:colId xmlns:a16="http://schemas.microsoft.com/office/drawing/2014/main" val="1312797735"/>
                    </a:ext>
                  </a:extLst>
                </a:gridCol>
                <a:gridCol w="1070563">
                  <a:extLst>
                    <a:ext uri="{9D8B030D-6E8A-4147-A177-3AD203B41FA5}">
                      <a16:colId xmlns:a16="http://schemas.microsoft.com/office/drawing/2014/main" val="991017504"/>
                    </a:ext>
                  </a:extLst>
                </a:gridCol>
                <a:gridCol w="1070563">
                  <a:extLst>
                    <a:ext uri="{9D8B030D-6E8A-4147-A177-3AD203B41FA5}">
                      <a16:colId xmlns:a16="http://schemas.microsoft.com/office/drawing/2014/main" val="618608997"/>
                    </a:ext>
                  </a:extLst>
                </a:gridCol>
                <a:gridCol w="1070563">
                  <a:extLst>
                    <a:ext uri="{9D8B030D-6E8A-4147-A177-3AD203B41FA5}">
                      <a16:colId xmlns:a16="http://schemas.microsoft.com/office/drawing/2014/main" val="3486695313"/>
                    </a:ext>
                  </a:extLst>
                </a:gridCol>
                <a:gridCol w="1070563">
                  <a:extLst>
                    <a:ext uri="{9D8B030D-6E8A-4147-A177-3AD203B41FA5}">
                      <a16:colId xmlns:a16="http://schemas.microsoft.com/office/drawing/2014/main" val="4095298878"/>
                    </a:ext>
                  </a:extLst>
                </a:gridCol>
              </a:tblGrid>
              <a:tr h="59508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156082"/>
                          </a:highlight>
                          <a:latin typeface="Aptos Narrow" panose="020B0004020202020204" pitchFamily="34" charset="0"/>
                        </a:rPr>
                        <a:t>Mb-Sites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156082"/>
                          </a:highlight>
                          <a:latin typeface="Aptos Narrow" panose="020B0004020202020204" pitchFamily="34" charset="0"/>
                        </a:rPr>
                        <a:t>266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156082"/>
                          </a:highlight>
                          <a:latin typeface="Aptos Narrow" panose="020B0004020202020204" pitchFamily="34" charset="0"/>
                        </a:rPr>
                        <a:t>270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156082"/>
                          </a:highlight>
                          <a:latin typeface="Aptos Narrow" panose="020B0004020202020204" pitchFamily="34" charset="0"/>
                        </a:rPr>
                        <a:t>271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156082"/>
                          </a:highlight>
                          <a:latin typeface="Aptos Narrow" panose="020B0004020202020204" pitchFamily="34" charset="0"/>
                        </a:rPr>
                        <a:t>274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156082"/>
                          </a:highlight>
                          <a:latin typeface="Aptos Narrow" panose="020B0004020202020204" pitchFamily="34" charset="0"/>
                        </a:rPr>
                        <a:t>311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156082"/>
                          </a:highlight>
                          <a:latin typeface="Aptos Narrow" panose="020B0004020202020204" pitchFamily="34" charset="0"/>
                        </a:rPr>
                        <a:t>313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156082"/>
                          </a:highlight>
                          <a:latin typeface="Aptos Narrow" panose="020B0004020202020204" pitchFamily="34" charset="0"/>
                        </a:rPr>
                        <a:t>366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156082"/>
                          </a:highlight>
                          <a:latin typeface="Aptos Narrow" panose="020B0004020202020204" pitchFamily="34" charset="0"/>
                        </a:rPr>
                        <a:t>382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28006680"/>
                  </a:ext>
                </a:extLst>
              </a:tr>
              <a:tr h="59508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Mb-PylRS-WT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02971103"/>
                  </a:ext>
                </a:extLst>
              </a:tr>
              <a:tr h="59508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Mb-TFAcKRS1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43280921"/>
                  </a:ext>
                </a:extLst>
              </a:tr>
              <a:tr h="59508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Mb-AcKRS1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72596518"/>
                  </a:ext>
                </a:extLst>
              </a:tr>
              <a:tr h="59508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Mb-AcKRS2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68107551"/>
                  </a:ext>
                </a:extLst>
              </a:tr>
              <a:tr h="59508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Mb-AcK3RS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6591327"/>
                  </a:ext>
                </a:extLst>
              </a:tr>
              <a:tr h="59508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Ch-AcK3RS*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8607769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0D716AB-0C2B-3B70-7A27-81691251B31C}"/>
              </a:ext>
            </a:extLst>
          </p:cNvPr>
          <p:cNvGraphicFramePr>
            <a:graphicFrameLocks noGrp="1"/>
          </p:cNvGraphicFramePr>
          <p:nvPr/>
        </p:nvGraphicFramePr>
        <p:xfrm>
          <a:off x="237067" y="4923137"/>
          <a:ext cx="963506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0563">
                  <a:extLst>
                    <a:ext uri="{9D8B030D-6E8A-4147-A177-3AD203B41FA5}">
                      <a16:colId xmlns:a16="http://schemas.microsoft.com/office/drawing/2014/main" val="583709756"/>
                    </a:ext>
                  </a:extLst>
                </a:gridCol>
                <a:gridCol w="1070563">
                  <a:extLst>
                    <a:ext uri="{9D8B030D-6E8A-4147-A177-3AD203B41FA5}">
                      <a16:colId xmlns:a16="http://schemas.microsoft.com/office/drawing/2014/main" val="609638021"/>
                    </a:ext>
                  </a:extLst>
                </a:gridCol>
                <a:gridCol w="1070563">
                  <a:extLst>
                    <a:ext uri="{9D8B030D-6E8A-4147-A177-3AD203B41FA5}">
                      <a16:colId xmlns:a16="http://schemas.microsoft.com/office/drawing/2014/main" val="3043077118"/>
                    </a:ext>
                  </a:extLst>
                </a:gridCol>
                <a:gridCol w="1070563">
                  <a:extLst>
                    <a:ext uri="{9D8B030D-6E8A-4147-A177-3AD203B41FA5}">
                      <a16:colId xmlns:a16="http://schemas.microsoft.com/office/drawing/2014/main" val="4226176967"/>
                    </a:ext>
                  </a:extLst>
                </a:gridCol>
                <a:gridCol w="1070563">
                  <a:extLst>
                    <a:ext uri="{9D8B030D-6E8A-4147-A177-3AD203B41FA5}">
                      <a16:colId xmlns:a16="http://schemas.microsoft.com/office/drawing/2014/main" val="4265715679"/>
                    </a:ext>
                  </a:extLst>
                </a:gridCol>
                <a:gridCol w="997185">
                  <a:extLst>
                    <a:ext uri="{9D8B030D-6E8A-4147-A177-3AD203B41FA5}">
                      <a16:colId xmlns:a16="http://schemas.microsoft.com/office/drawing/2014/main" val="872555068"/>
                    </a:ext>
                  </a:extLst>
                </a:gridCol>
                <a:gridCol w="1143941">
                  <a:extLst>
                    <a:ext uri="{9D8B030D-6E8A-4147-A177-3AD203B41FA5}">
                      <a16:colId xmlns:a16="http://schemas.microsoft.com/office/drawing/2014/main" val="1544779202"/>
                    </a:ext>
                  </a:extLst>
                </a:gridCol>
                <a:gridCol w="1070563">
                  <a:extLst>
                    <a:ext uri="{9D8B030D-6E8A-4147-A177-3AD203B41FA5}">
                      <a16:colId xmlns:a16="http://schemas.microsoft.com/office/drawing/2014/main" val="4203353333"/>
                    </a:ext>
                  </a:extLst>
                </a:gridCol>
                <a:gridCol w="1070563">
                  <a:extLst>
                    <a:ext uri="{9D8B030D-6E8A-4147-A177-3AD203B41FA5}">
                      <a16:colId xmlns:a16="http://schemas.microsoft.com/office/drawing/2014/main" val="3795701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Ma-Sites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121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125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126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129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166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168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223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239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15588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 Library site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065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AST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95950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533285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C93188-0C74-7039-ABE5-01B7BB6BE411}"/>
              </a:ext>
            </a:extLst>
          </p:cNvPr>
          <p:cNvSpPr txBox="1"/>
          <p:nvPr/>
        </p:nvSpPr>
        <p:spPr>
          <a:xfrm>
            <a:off x="23751" y="0"/>
            <a:ext cx="6216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Proposed Active-Site Transplant Mutations (G1PylRS,Ma,Mm)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02EC9B-2D89-F936-B8A8-5C6DF9AB6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737" y="152249"/>
            <a:ext cx="5023758" cy="38553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65FB38-15E7-6FA6-047A-6818E0835E0E}"/>
              </a:ext>
            </a:extLst>
          </p:cNvPr>
          <p:cNvSpPr txBox="1"/>
          <p:nvPr/>
        </p:nvSpPr>
        <p:spPr>
          <a:xfrm>
            <a:off x="314325" y="1214438"/>
            <a:ext cx="62166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methanogenic archaeon ISO4-G1 (ISO4-G1 </a:t>
            </a:r>
            <a:r>
              <a:rPr lang="en-US" dirty="0" err="1"/>
              <a:t>PylRS</a:t>
            </a:r>
            <a:r>
              <a:rPr lang="en-US" dirty="0"/>
              <a:t>) is highly similar to </a:t>
            </a:r>
            <a:r>
              <a:rPr lang="en-US" i="1" dirty="0" err="1"/>
              <a:t>Ma</a:t>
            </a:r>
            <a:r>
              <a:rPr lang="en-US" dirty="0" err="1"/>
              <a:t>PylRS</a:t>
            </a:r>
            <a:r>
              <a:rPr lang="en-US" dirty="0"/>
              <a:t> with 64% sequence identity. </a:t>
            </a:r>
          </a:p>
          <a:p>
            <a:r>
              <a:rPr lang="en-US" dirty="0"/>
              <a:t>2. ISO4-G1 </a:t>
            </a:r>
            <a:r>
              <a:rPr lang="en-US" dirty="0" err="1"/>
              <a:t>PylRS</a:t>
            </a:r>
            <a:r>
              <a:rPr lang="en-US" dirty="0"/>
              <a:t> and </a:t>
            </a:r>
            <a:r>
              <a:rPr lang="en-US" i="1" dirty="0" err="1"/>
              <a:t>Ma</a:t>
            </a:r>
            <a:r>
              <a:rPr lang="en-US" dirty="0" err="1"/>
              <a:t>PylRS</a:t>
            </a:r>
            <a:r>
              <a:rPr lang="en-US" dirty="0"/>
              <a:t> both share around 38% sequence identity with </a:t>
            </a:r>
            <a:r>
              <a:rPr lang="en-US" i="1" dirty="0"/>
              <a:t>M. </a:t>
            </a:r>
            <a:r>
              <a:rPr lang="en-US" i="1" dirty="0" err="1"/>
              <a:t>mazei</a:t>
            </a:r>
            <a:r>
              <a:rPr lang="en-US" dirty="0"/>
              <a:t> </a:t>
            </a:r>
            <a:r>
              <a:rPr lang="en-US" dirty="0" err="1"/>
              <a:t>PylRSc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504A8C1-0969-AE6E-36E0-0A763B21A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356381"/>
              </p:ext>
            </p:extLst>
          </p:nvPr>
        </p:nvGraphicFramePr>
        <p:xfrm>
          <a:off x="-1" y="4036872"/>
          <a:ext cx="11958498" cy="1112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74741">
                  <a:extLst>
                    <a:ext uri="{9D8B030D-6E8A-4147-A177-3AD203B41FA5}">
                      <a16:colId xmlns:a16="http://schemas.microsoft.com/office/drawing/2014/main" val="83851841"/>
                    </a:ext>
                  </a:extLst>
                </a:gridCol>
                <a:gridCol w="1106787">
                  <a:extLst>
                    <a:ext uri="{9D8B030D-6E8A-4147-A177-3AD203B41FA5}">
                      <a16:colId xmlns:a16="http://schemas.microsoft.com/office/drawing/2014/main" val="1006555727"/>
                    </a:ext>
                  </a:extLst>
                </a:gridCol>
                <a:gridCol w="816696">
                  <a:extLst>
                    <a:ext uri="{9D8B030D-6E8A-4147-A177-3AD203B41FA5}">
                      <a16:colId xmlns:a16="http://schemas.microsoft.com/office/drawing/2014/main" val="1553135380"/>
                    </a:ext>
                  </a:extLst>
                </a:gridCol>
                <a:gridCol w="871986">
                  <a:extLst>
                    <a:ext uri="{9D8B030D-6E8A-4147-A177-3AD203B41FA5}">
                      <a16:colId xmlns:a16="http://schemas.microsoft.com/office/drawing/2014/main" val="29433950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596326732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721303597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1518007268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2404580150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3366078965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2688828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408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dirty="0"/>
                        <a:t>ISO4G1-WT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795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pRSF-G1TFACKRS*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I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W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W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C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8338028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DE9139C-84F8-9B35-4326-38F83B965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943265"/>
              </p:ext>
            </p:extLst>
          </p:nvPr>
        </p:nvGraphicFramePr>
        <p:xfrm>
          <a:off x="23755" y="5178711"/>
          <a:ext cx="1193474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915">
                  <a:extLst>
                    <a:ext uri="{9D8B030D-6E8A-4147-A177-3AD203B41FA5}">
                      <a16:colId xmlns:a16="http://schemas.microsoft.com/office/drawing/2014/main" val="3744201924"/>
                    </a:ext>
                  </a:extLst>
                </a:gridCol>
                <a:gridCol w="1140031">
                  <a:extLst>
                    <a:ext uri="{9D8B030D-6E8A-4147-A177-3AD203B41FA5}">
                      <a16:colId xmlns:a16="http://schemas.microsoft.com/office/drawing/2014/main" val="2903091178"/>
                    </a:ext>
                  </a:extLst>
                </a:gridCol>
                <a:gridCol w="807522">
                  <a:extLst>
                    <a:ext uri="{9D8B030D-6E8A-4147-A177-3AD203B41FA5}">
                      <a16:colId xmlns:a16="http://schemas.microsoft.com/office/drawing/2014/main" val="613644717"/>
                    </a:ext>
                  </a:extLst>
                </a:gridCol>
                <a:gridCol w="866899">
                  <a:extLst>
                    <a:ext uri="{9D8B030D-6E8A-4147-A177-3AD203B41FA5}">
                      <a16:colId xmlns:a16="http://schemas.microsoft.com/office/drawing/2014/main" val="954740763"/>
                    </a:ext>
                  </a:extLst>
                </a:gridCol>
                <a:gridCol w="1246909">
                  <a:extLst>
                    <a:ext uri="{9D8B030D-6E8A-4147-A177-3AD203B41FA5}">
                      <a16:colId xmlns:a16="http://schemas.microsoft.com/office/drawing/2014/main" val="4210971690"/>
                    </a:ext>
                  </a:extLst>
                </a:gridCol>
                <a:gridCol w="1258785">
                  <a:extLst>
                    <a:ext uri="{9D8B030D-6E8A-4147-A177-3AD203B41FA5}">
                      <a16:colId xmlns:a16="http://schemas.microsoft.com/office/drawing/2014/main" val="3325626921"/>
                    </a:ext>
                  </a:extLst>
                </a:gridCol>
                <a:gridCol w="1246909">
                  <a:extLst>
                    <a:ext uri="{9D8B030D-6E8A-4147-A177-3AD203B41FA5}">
                      <a16:colId xmlns:a16="http://schemas.microsoft.com/office/drawing/2014/main" val="2114405837"/>
                    </a:ext>
                  </a:extLst>
                </a:gridCol>
                <a:gridCol w="1246909">
                  <a:extLst>
                    <a:ext uri="{9D8B030D-6E8A-4147-A177-3AD203B41FA5}">
                      <a16:colId xmlns:a16="http://schemas.microsoft.com/office/drawing/2014/main" val="2621619108"/>
                    </a:ext>
                  </a:extLst>
                </a:gridCol>
                <a:gridCol w="1246909">
                  <a:extLst>
                    <a:ext uri="{9D8B030D-6E8A-4147-A177-3AD203B41FA5}">
                      <a16:colId xmlns:a16="http://schemas.microsoft.com/office/drawing/2014/main" val="277070292"/>
                    </a:ext>
                  </a:extLst>
                </a:gridCol>
                <a:gridCol w="1246952">
                  <a:extLst>
                    <a:ext uri="{9D8B030D-6E8A-4147-A177-3AD203B41FA5}">
                      <a16:colId xmlns:a16="http://schemas.microsoft.com/office/drawing/2014/main" val="2696212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632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MaPylRS</a:t>
                      </a:r>
                      <a:r>
                        <a:rPr lang="en-US" sz="1400" dirty="0"/>
                        <a:t>-WT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dirty="0"/>
                        <a:t>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dirty="0"/>
                        <a:t>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dirty="0"/>
                        <a:t>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dirty="0"/>
                        <a:t>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dirty="0"/>
                        <a:t>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dirty="0"/>
                        <a:t>V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dirty="0"/>
                        <a:t>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dirty="0"/>
                        <a:t>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dirty="0"/>
                        <a:t>W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22833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Proposed 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I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W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W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C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9328807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69AAFC4-CC9E-3C31-72E6-A1423E11F3EA}"/>
              </a:ext>
            </a:extLst>
          </p:cNvPr>
          <p:cNvSpPr txBox="1"/>
          <p:nvPr/>
        </p:nvSpPr>
        <p:spPr>
          <a:xfrm>
            <a:off x="23751" y="6257836"/>
            <a:ext cx="121682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CITATION: </a:t>
            </a:r>
            <a:r>
              <a:rPr lang="en-US" sz="1100" dirty="0"/>
              <a:t>Yanagisawa T, Seki E, Tanabe H, </a:t>
            </a:r>
            <a:r>
              <a:rPr lang="en-US" sz="1100" dirty="0" err="1"/>
              <a:t>Fujii</a:t>
            </a:r>
            <a:r>
              <a:rPr lang="en-US" sz="1100" dirty="0"/>
              <a:t> Y, Sakamoto K, Yokoyama S. Crystal Structure of </a:t>
            </a:r>
            <a:r>
              <a:rPr lang="en-US" sz="1100" dirty="0" err="1"/>
              <a:t>Pyrrolysyl</a:t>
            </a:r>
            <a:r>
              <a:rPr lang="en-US" sz="1100" dirty="0"/>
              <a:t>-tRNA Synthetase from a Methanogenic Archaeon ISO4-G1 and Its Structure-Based Engineering for Highly-Productive Cell-Free Genetic Code Expansion with Non-Canonical Amino Acids. Int J Mol Sci. 2023 Mar 26;24(7):6256. </a:t>
            </a:r>
            <a:r>
              <a:rPr lang="en-US" sz="1100" dirty="0" err="1"/>
              <a:t>doi</a:t>
            </a:r>
            <a:r>
              <a:rPr lang="en-US" sz="1100" dirty="0"/>
              <a:t>: 10.3390/ijms24076256. PMID: 37047230; PMCID: PMC10094482.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80748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9434C0-2940-4CE1-E042-0C3F1D9BDF2A}"/>
              </a:ext>
            </a:extLst>
          </p:cNvPr>
          <p:cNvSpPr txBox="1"/>
          <p:nvPr/>
        </p:nvSpPr>
        <p:spPr>
          <a:xfrm>
            <a:off x="237110" y="206217"/>
            <a:ext cx="7612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Summary of engineered </a:t>
            </a:r>
            <a:r>
              <a:rPr lang="en-US" sz="2400" b="1" dirty="0" err="1"/>
              <a:t>AcK</a:t>
            </a:r>
            <a:r>
              <a:rPr lang="en-US" sz="2400" b="1" dirty="0"/>
              <a:t> </a:t>
            </a:r>
            <a:r>
              <a:rPr lang="en-US" sz="2400" b="1" dirty="0" err="1"/>
              <a:t>PylRSs</a:t>
            </a:r>
            <a:endParaRPr lang="en-US" sz="24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954B679-6019-5A90-521D-95FABFFFAB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805232"/>
              </p:ext>
            </p:extLst>
          </p:nvPr>
        </p:nvGraphicFramePr>
        <p:xfrm>
          <a:off x="740282" y="975490"/>
          <a:ext cx="8832142" cy="343824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03937">
                  <a:extLst>
                    <a:ext uri="{9D8B030D-6E8A-4147-A177-3AD203B41FA5}">
                      <a16:colId xmlns:a16="http://schemas.microsoft.com/office/drawing/2014/main" val="2656353990"/>
                    </a:ext>
                  </a:extLst>
                </a:gridCol>
                <a:gridCol w="701907">
                  <a:extLst>
                    <a:ext uri="{9D8B030D-6E8A-4147-A177-3AD203B41FA5}">
                      <a16:colId xmlns:a16="http://schemas.microsoft.com/office/drawing/2014/main" val="2967653625"/>
                    </a:ext>
                  </a:extLst>
                </a:gridCol>
                <a:gridCol w="802922">
                  <a:extLst>
                    <a:ext uri="{9D8B030D-6E8A-4147-A177-3AD203B41FA5}">
                      <a16:colId xmlns:a16="http://schemas.microsoft.com/office/drawing/2014/main" val="1801664157"/>
                    </a:ext>
                  </a:extLst>
                </a:gridCol>
                <a:gridCol w="802922">
                  <a:extLst>
                    <a:ext uri="{9D8B030D-6E8A-4147-A177-3AD203B41FA5}">
                      <a16:colId xmlns:a16="http://schemas.microsoft.com/office/drawing/2014/main" val="362309918"/>
                    </a:ext>
                  </a:extLst>
                </a:gridCol>
                <a:gridCol w="802922">
                  <a:extLst>
                    <a:ext uri="{9D8B030D-6E8A-4147-A177-3AD203B41FA5}">
                      <a16:colId xmlns:a16="http://schemas.microsoft.com/office/drawing/2014/main" val="3376701671"/>
                    </a:ext>
                  </a:extLst>
                </a:gridCol>
                <a:gridCol w="802922">
                  <a:extLst>
                    <a:ext uri="{9D8B030D-6E8A-4147-A177-3AD203B41FA5}">
                      <a16:colId xmlns:a16="http://schemas.microsoft.com/office/drawing/2014/main" val="1312797735"/>
                    </a:ext>
                  </a:extLst>
                </a:gridCol>
                <a:gridCol w="802922">
                  <a:extLst>
                    <a:ext uri="{9D8B030D-6E8A-4147-A177-3AD203B41FA5}">
                      <a16:colId xmlns:a16="http://schemas.microsoft.com/office/drawing/2014/main" val="991017504"/>
                    </a:ext>
                  </a:extLst>
                </a:gridCol>
                <a:gridCol w="802922">
                  <a:extLst>
                    <a:ext uri="{9D8B030D-6E8A-4147-A177-3AD203B41FA5}">
                      <a16:colId xmlns:a16="http://schemas.microsoft.com/office/drawing/2014/main" val="618608997"/>
                    </a:ext>
                  </a:extLst>
                </a:gridCol>
                <a:gridCol w="802922">
                  <a:extLst>
                    <a:ext uri="{9D8B030D-6E8A-4147-A177-3AD203B41FA5}">
                      <a16:colId xmlns:a16="http://schemas.microsoft.com/office/drawing/2014/main" val="2725913532"/>
                    </a:ext>
                  </a:extLst>
                </a:gridCol>
                <a:gridCol w="802922">
                  <a:extLst>
                    <a:ext uri="{9D8B030D-6E8A-4147-A177-3AD203B41FA5}">
                      <a16:colId xmlns:a16="http://schemas.microsoft.com/office/drawing/2014/main" val="1756172731"/>
                    </a:ext>
                  </a:extLst>
                </a:gridCol>
                <a:gridCol w="802922">
                  <a:extLst>
                    <a:ext uri="{9D8B030D-6E8A-4147-A177-3AD203B41FA5}">
                      <a16:colId xmlns:a16="http://schemas.microsoft.com/office/drawing/2014/main" val="4095298878"/>
                    </a:ext>
                  </a:extLst>
                </a:gridCol>
              </a:tblGrid>
              <a:tr h="2603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Mm-WT</a:t>
                      </a:r>
                      <a:endParaRPr lang="en-US" sz="1000" b="1" i="0" u="none" strike="noStrike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L301</a:t>
                      </a:r>
                      <a:endParaRPr lang="en-US" sz="1000" b="1" i="0" u="none" strike="noStrike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A302</a:t>
                      </a:r>
                      <a:endParaRPr lang="en-US" sz="1000" b="1" i="0" u="none" strike="noStrike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L305</a:t>
                      </a:r>
                      <a:endParaRPr lang="en-US" sz="1000" b="1" i="0" u="none" strike="noStrike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Y306</a:t>
                      </a:r>
                      <a:endParaRPr lang="en-US" sz="1000" b="1" i="0" u="none" strike="noStrike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L309</a:t>
                      </a:r>
                      <a:endParaRPr lang="en-US" sz="1000" b="1" i="0" u="none" strike="noStrike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N346</a:t>
                      </a:r>
                      <a:endParaRPr lang="en-US" sz="1000" b="1" i="0" u="none" strike="noStrike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C348</a:t>
                      </a:r>
                      <a:endParaRPr lang="en-US" sz="1000" b="1" i="0" u="none" strike="noStrike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Y384</a:t>
                      </a: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V401</a:t>
                      </a:r>
                      <a:endParaRPr lang="en-US" sz="1000" b="1" i="0" u="none" strike="noStrike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W417</a:t>
                      </a:r>
                      <a:endParaRPr lang="en-US" sz="1000" b="1" i="0" u="none" strike="noStrike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217750"/>
                  </a:ext>
                </a:extLst>
              </a:tr>
              <a:tr h="2603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Mb-WT</a:t>
                      </a:r>
                      <a:endParaRPr lang="en-US" sz="1000" b="1" i="0" u="none" strike="noStrike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L266</a:t>
                      </a:r>
                      <a:endParaRPr lang="en-US" sz="1000" b="1" i="0" u="none" strike="noStrike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A267</a:t>
                      </a:r>
                      <a:endParaRPr lang="en-US" sz="1000" b="1" i="0" u="none" strike="noStrike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L270</a:t>
                      </a:r>
                      <a:endParaRPr lang="en-US" sz="1000" b="1" i="0" u="none" strike="noStrike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Y271</a:t>
                      </a:r>
                      <a:endParaRPr lang="en-US" sz="1000" b="1" i="0" u="none" strike="noStrike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L274</a:t>
                      </a:r>
                      <a:endParaRPr lang="en-US" sz="1000" b="1" i="0" u="none" strike="noStrike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N311</a:t>
                      </a:r>
                      <a:endParaRPr lang="en-US" sz="1000" b="1" i="0" u="none" strike="noStrike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C313</a:t>
                      </a:r>
                      <a:endParaRPr lang="en-US" sz="1000" b="1" i="0" u="none" strike="noStrike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Y349</a:t>
                      </a: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V366</a:t>
                      </a:r>
                      <a:endParaRPr lang="en-US" sz="1000" b="1" i="0" u="none" strike="noStrike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W382</a:t>
                      </a:r>
                      <a:endParaRPr lang="en-US" sz="1000" b="1" i="0" u="none" strike="noStrike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006680"/>
                  </a:ext>
                </a:extLst>
              </a:tr>
              <a:tr h="2603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Ma-WT</a:t>
                      </a:r>
                      <a:endParaRPr lang="en-US" sz="1000" b="1" i="0" u="none" strike="noStrike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L121</a:t>
                      </a: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A122</a:t>
                      </a: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L125 </a:t>
                      </a:r>
                      <a:r>
                        <a:rPr lang="en-US" sz="1000" b="0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(5/6)*</a:t>
                      </a: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Y126 </a:t>
                      </a:r>
                      <a:r>
                        <a:rPr lang="en-US" sz="1000" b="0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(6)</a:t>
                      </a: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M129 </a:t>
                      </a:r>
                      <a:r>
                        <a:rPr lang="en-US" sz="1000" b="0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(6)</a:t>
                      </a: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N166 </a:t>
                      </a:r>
                      <a:r>
                        <a:rPr lang="en-US" sz="1000" b="0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(5/6)</a:t>
                      </a: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V168 </a:t>
                      </a:r>
                      <a:r>
                        <a:rPr lang="en-US" sz="1000" b="0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(5/6)</a:t>
                      </a: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Y206</a:t>
                      </a: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A223 </a:t>
                      </a:r>
                      <a:r>
                        <a:rPr lang="en-US" sz="1000" b="0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(5)</a:t>
                      </a: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W239 </a:t>
                      </a:r>
                      <a:r>
                        <a:rPr lang="en-US" sz="1000" b="0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(5/6)</a:t>
                      </a: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8146"/>
                  </a:ext>
                </a:extLst>
              </a:tr>
              <a:tr h="2603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ISO4-G1 WT</a:t>
                      </a:r>
                      <a:endParaRPr lang="en-US" sz="1000" b="1" i="0" u="none" strike="noStrike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H120</a:t>
                      </a: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A121</a:t>
                      </a: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L124</a:t>
                      </a: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Y125</a:t>
                      </a: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M128</a:t>
                      </a: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N165</a:t>
                      </a: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V167</a:t>
                      </a: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Y204</a:t>
                      </a: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A221</a:t>
                      </a: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W237</a:t>
                      </a: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389006"/>
                  </a:ext>
                </a:extLst>
              </a:tr>
              <a:tr h="26032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Mb-AcKRS-1 </a:t>
                      </a:r>
                      <a:r>
                        <a:rPr lang="en-US" sz="1000" b="1" u="none" strike="noStrike" baseline="30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V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V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W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87711298"/>
                  </a:ext>
                </a:extLst>
              </a:tr>
              <a:tr h="26032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Mb-AcKRS-2 </a:t>
                      </a:r>
                      <a:r>
                        <a:rPr lang="en-US" sz="1000" b="1" u="none" strike="noStrike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64983758"/>
                  </a:ext>
                </a:extLst>
              </a:tr>
              <a:tr h="26032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Mb-AcKRS-3 </a:t>
                      </a:r>
                      <a:r>
                        <a:rPr lang="en-US" sz="1000" b="1" u="none" strike="noStrike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44579696"/>
                  </a:ext>
                </a:extLst>
              </a:tr>
              <a:tr h="26032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Mm-AcKRS1 </a:t>
                      </a:r>
                      <a:r>
                        <a:rPr lang="en-US" sz="1000" b="1" u="none" strike="noStrike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70010499"/>
                  </a:ext>
                </a:extLst>
              </a:tr>
              <a:tr h="26032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Mm-AcKRS2 </a:t>
                      </a:r>
                      <a:r>
                        <a:rPr kumimoji="0" lang="en-US" sz="1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dirty="0">
                          <a:latin typeface="+mn-lt"/>
                        </a:rPr>
                        <a:t>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dirty="0">
                          <a:latin typeface="+mn-lt"/>
                        </a:rPr>
                        <a:t>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V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W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43280921"/>
                  </a:ext>
                </a:extLst>
              </a:tr>
              <a:tr h="260327"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Mm-</a:t>
                      </a:r>
                      <a:r>
                        <a:rPr lang="en-US" sz="1000" b="1" dirty="0" err="1"/>
                        <a:t>AcLysRS</a:t>
                      </a:r>
                      <a:r>
                        <a:rPr lang="en-US" sz="1000" dirty="0"/>
                        <a:t> </a:t>
                      </a:r>
                      <a:r>
                        <a:rPr lang="en-US" sz="1000" baseline="30000" dirty="0"/>
                        <a:t>4</a:t>
                      </a: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92965859"/>
                  </a:ext>
                </a:extLst>
              </a:tr>
              <a:tr h="260327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Ch-AcK3RS </a:t>
                      </a:r>
                      <a:r>
                        <a:rPr lang="en-US" sz="1000" b="1" baseline="30000" dirty="0"/>
                        <a:t>7</a:t>
                      </a:r>
                      <a:endParaRPr lang="en-US" sz="1000" b="1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30094064"/>
                  </a:ext>
                </a:extLst>
              </a:tr>
              <a:tr h="26032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Mb-</a:t>
                      </a:r>
                      <a:r>
                        <a:rPr lang="en-US" sz="1000" b="1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TFAcKRS</a:t>
                      </a:r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000" b="1" u="none" strike="noStrike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560856"/>
                  </a:ext>
                </a:extLst>
              </a:tr>
              <a:tr h="2407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ISO-G4- TFAKRS </a:t>
                      </a:r>
                      <a:r>
                        <a:rPr lang="en-US" sz="1000" b="1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9623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72277FE-576D-1FDF-3AC9-E569B2F8AA0C}"/>
              </a:ext>
            </a:extLst>
          </p:cNvPr>
          <p:cNvSpPr txBox="1"/>
          <p:nvPr/>
        </p:nvSpPr>
        <p:spPr>
          <a:xfrm>
            <a:off x="9647273" y="1488189"/>
            <a:ext cx="208818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i="0" u="none" strike="noStrike" dirty="0">
                <a:solidFill>
                  <a:schemeClr val="accent5">
                    <a:lumMod val="75000"/>
                  </a:schemeClr>
                </a:solidFill>
                <a:effectLst/>
                <a:latin typeface="Aptos Narrow" panose="020B0004020202020204" pitchFamily="34" charset="0"/>
              </a:rPr>
              <a:t>* 5/6 indicates whether that residue is mutagenized in our 5- or 6-site </a:t>
            </a:r>
            <a:r>
              <a:rPr lang="en-US" sz="1000" b="1" i="1" u="none" strike="noStrike" dirty="0">
                <a:solidFill>
                  <a:schemeClr val="accent5">
                    <a:lumMod val="75000"/>
                  </a:schemeClr>
                </a:solidFill>
                <a:effectLst/>
                <a:latin typeface="Aptos Narrow" panose="020B0004020202020204" pitchFamily="34" charset="0"/>
              </a:rPr>
              <a:t>Ma </a:t>
            </a:r>
            <a:r>
              <a:rPr lang="en-US" sz="1000" b="1" u="none" strike="noStrike" dirty="0">
                <a:solidFill>
                  <a:schemeClr val="accent5">
                    <a:lumMod val="75000"/>
                  </a:schemeClr>
                </a:solidFill>
                <a:effectLst/>
                <a:latin typeface="Aptos Narrow" panose="020B0004020202020204" pitchFamily="34" charset="0"/>
              </a:rPr>
              <a:t>libraries</a:t>
            </a:r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61E94D-1BF4-ED87-FBDB-297841B8693A}"/>
              </a:ext>
            </a:extLst>
          </p:cNvPr>
          <p:cNvSpPr txBox="1"/>
          <p:nvPr/>
        </p:nvSpPr>
        <p:spPr>
          <a:xfrm>
            <a:off x="660684" y="5525625"/>
            <a:ext cx="10637849" cy="12721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aseline="30000" dirty="0"/>
              <a:t>1</a:t>
            </a:r>
            <a:r>
              <a:rPr lang="en-US" sz="1000" dirty="0"/>
              <a:t> H Neumann, SY Peak-Chew, JW Chin, Genetically encoding N(</a:t>
            </a:r>
            <a:r>
              <a:rPr lang="el-GR" sz="1000" baseline="30000" dirty="0"/>
              <a:t>ε</a:t>
            </a:r>
            <a:r>
              <a:rPr lang="el-GR" sz="1000" dirty="0"/>
              <a:t>)-</a:t>
            </a:r>
            <a:r>
              <a:rPr lang="en-US" sz="1000" dirty="0" err="1"/>
              <a:t>acetyllysine</a:t>
            </a:r>
            <a:r>
              <a:rPr lang="en-US" sz="1000" dirty="0"/>
              <a:t> in recombinant proteins. </a:t>
            </a:r>
            <a:r>
              <a:rPr lang="en-US" sz="1000" i="1" dirty="0"/>
              <a:t>Nat Chem Biol</a:t>
            </a:r>
            <a:r>
              <a:rPr lang="en-US" sz="1000" dirty="0"/>
              <a:t> </a:t>
            </a:r>
            <a:r>
              <a:rPr lang="en-US" sz="1000" b="1" dirty="0"/>
              <a:t>4</a:t>
            </a:r>
            <a:r>
              <a:rPr lang="en-US" sz="1000" dirty="0"/>
              <a:t>, 232–234 (2008).</a:t>
            </a:r>
          </a:p>
          <a:p>
            <a:r>
              <a:rPr lang="en-US" sz="1000" baseline="30000" dirty="0"/>
              <a:t>2 </a:t>
            </a:r>
            <a:r>
              <a:rPr lang="en-US" sz="1000" dirty="0"/>
              <a:t> Neumann H, Hancock SM, </a:t>
            </a:r>
            <a:r>
              <a:rPr lang="en-US" sz="1000" dirty="0" err="1"/>
              <a:t>Buning</a:t>
            </a:r>
            <a:r>
              <a:rPr lang="en-US" sz="1000" dirty="0"/>
              <a:t> R, Routh A, Chapman L, Somers J, Owen-Hughes T, van </a:t>
            </a:r>
            <a:r>
              <a:rPr lang="en-US" sz="1000" dirty="0" err="1"/>
              <a:t>Noort</a:t>
            </a:r>
            <a:r>
              <a:rPr lang="en-US" sz="1000" dirty="0"/>
              <a:t> J, Rhodes D, Chin JW. Mol Cell. 2009 Oct 9;36(1):153-63. </a:t>
            </a:r>
            <a:r>
              <a:rPr lang="en-US" sz="1000" dirty="0" err="1"/>
              <a:t>doi</a:t>
            </a:r>
            <a:r>
              <a:rPr lang="en-US" sz="1000" dirty="0"/>
              <a:t>: 10.1016/j.molcel.2009.07.027.</a:t>
            </a:r>
          </a:p>
          <a:p>
            <a:r>
              <a:rPr lang="en-US" sz="1000" baseline="30000" dirty="0"/>
              <a:t>3</a:t>
            </a:r>
            <a:r>
              <a:rPr lang="en-US" sz="1000" dirty="0"/>
              <a:t> Umehara Takuya, Kim </a:t>
            </a:r>
            <a:r>
              <a:rPr lang="en-US" sz="1000" dirty="0" err="1"/>
              <a:t>Jihyo</a:t>
            </a:r>
            <a:r>
              <a:rPr lang="en-US" sz="1000" dirty="0"/>
              <a:t>, Lee </a:t>
            </a:r>
            <a:r>
              <a:rPr lang="en-US" sz="1000" dirty="0" err="1"/>
              <a:t>Sangsik</a:t>
            </a:r>
            <a:r>
              <a:rPr lang="en-US" sz="1000" dirty="0"/>
              <a:t>, Guo Li-Tao, </a:t>
            </a:r>
            <a:r>
              <a:rPr lang="en-US" sz="1000" dirty="0" err="1"/>
              <a:t>Söll</a:t>
            </a:r>
            <a:r>
              <a:rPr lang="en-US" sz="1000" dirty="0"/>
              <a:t> Dieter and Park </a:t>
            </a:r>
            <a:r>
              <a:rPr lang="en-US" sz="1000" dirty="0" err="1"/>
              <a:t>Hee</a:t>
            </a:r>
            <a:r>
              <a:rPr lang="en-US" sz="1000" dirty="0"/>
              <a:t>-Sung(2012), </a:t>
            </a:r>
            <a:r>
              <a:rPr lang="en-US" sz="1000" i="1" dirty="0"/>
              <a:t>FEBS Letters</a:t>
            </a:r>
            <a:r>
              <a:rPr lang="en-US" sz="1000" dirty="0"/>
              <a:t>, 586, </a:t>
            </a:r>
            <a:r>
              <a:rPr lang="en-US" sz="1000" dirty="0" err="1"/>
              <a:t>doi</a:t>
            </a:r>
            <a:r>
              <a:rPr lang="en-US" sz="1000" dirty="0"/>
              <a:t>: 10.1016/j.febslet.2012.01.029  </a:t>
            </a:r>
          </a:p>
          <a:p>
            <a:r>
              <a:rPr lang="en-US" sz="1000" baseline="30000" dirty="0"/>
              <a:t>4</a:t>
            </a:r>
            <a:r>
              <a:rPr lang="en-US" sz="1000" dirty="0"/>
              <a:t> T Mukai, et al., Adding l-lysine derivatives to the genetic code of mammalian cells with engineered </a:t>
            </a:r>
            <a:r>
              <a:rPr lang="en-US" sz="1000" dirty="0" err="1"/>
              <a:t>pyrrolysyl</a:t>
            </a:r>
            <a:r>
              <a:rPr lang="en-US" sz="1000" dirty="0"/>
              <a:t>-tRNA synthetases. </a:t>
            </a:r>
            <a:r>
              <a:rPr lang="en-US" sz="1000" i="1" dirty="0" err="1"/>
              <a:t>Biochem</a:t>
            </a:r>
            <a:r>
              <a:rPr lang="en-US" sz="1000" i="1" dirty="0"/>
              <a:t> </a:t>
            </a:r>
            <a:r>
              <a:rPr lang="en-US" sz="1000" i="1" dirty="0" err="1"/>
              <a:t>Biophys</a:t>
            </a:r>
            <a:r>
              <a:rPr lang="en-US" sz="1000" i="1" dirty="0"/>
              <a:t> Res </a:t>
            </a:r>
            <a:r>
              <a:rPr lang="en-US" sz="1000" i="1" dirty="0" err="1"/>
              <a:t>Commun</a:t>
            </a:r>
            <a:r>
              <a:rPr lang="en-US" sz="1000" dirty="0"/>
              <a:t> </a:t>
            </a:r>
            <a:r>
              <a:rPr lang="en-US" sz="1000" b="1" dirty="0"/>
              <a:t>371</a:t>
            </a:r>
            <a:r>
              <a:rPr lang="en-US" sz="1000" dirty="0"/>
              <a:t>, 818–822 (2008).</a:t>
            </a:r>
          </a:p>
          <a:p>
            <a:r>
              <a:rPr lang="en-US" sz="1000" baseline="30000" dirty="0"/>
              <a:t>5 </a:t>
            </a:r>
            <a:r>
              <a:rPr lang="en-US" sz="1000" dirty="0"/>
              <a:t> Feng Zhang, Qing Zhou, </a:t>
            </a:r>
            <a:r>
              <a:rPr lang="en-US" sz="1000" dirty="0" err="1"/>
              <a:t>Guiwen</a:t>
            </a:r>
            <a:r>
              <a:rPr lang="en-US" sz="1000" dirty="0"/>
              <a:t> Yang,  </a:t>
            </a:r>
            <a:r>
              <a:rPr lang="en-US" sz="1000" dirty="0" err="1"/>
              <a:t>Liguo</a:t>
            </a:r>
            <a:r>
              <a:rPr lang="en-US" sz="1000" dirty="0"/>
              <a:t> An, </a:t>
            </a:r>
            <a:r>
              <a:rPr lang="en-US" sz="1000" dirty="0" err="1"/>
              <a:t>Fahui</a:t>
            </a:r>
            <a:r>
              <a:rPr lang="en-US" sz="1000" dirty="0"/>
              <a:t> Li and  </a:t>
            </a:r>
            <a:r>
              <a:rPr lang="en-US" sz="1000" dirty="0" err="1"/>
              <a:t>Jiangyun</a:t>
            </a:r>
            <a:r>
              <a:rPr lang="en-US" sz="1000" dirty="0"/>
              <a:t> Wang. </a:t>
            </a:r>
            <a:r>
              <a:rPr lang="en-US" sz="1000" b="1" i="1" dirty="0"/>
              <a:t>Chem. </a:t>
            </a:r>
            <a:r>
              <a:rPr lang="en-US" sz="1000" b="1" i="1" dirty="0" err="1"/>
              <a:t>Commun</a:t>
            </a:r>
            <a:r>
              <a:rPr lang="en-US" sz="1000" b="1" i="1" dirty="0"/>
              <a:t>.</a:t>
            </a:r>
            <a:r>
              <a:rPr lang="en-US" sz="1000" dirty="0"/>
              <a:t>, 2018,</a:t>
            </a:r>
            <a:r>
              <a:rPr lang="en-US" sz="1000" b="1" dirty="0"/>
              <a:t>54</a:t>
            </a:r>
            <a:r>
              <a:rPr lang="en-US" sz="1000" dirty="0"/>
              <a:t>, 3879-3882  </a:t>
            </a:r>
          </a:p>
          <a:p>
            <a:r>
              <a:rPr lang="en-US" sz="1000" baseline="30000" dirty="0"/>
              <a:t>6</a:t>
            </a:r>
            <a:r>
              <a:rPr lang="en-US" sz="1000" dirty="0"/>
              <a:t> Orton HW, </a:t>
            </a:r>
            <a:r>
              <a:rPr lang="en-US" sz="1000" dirty="0" err="1"/>
              <a:t>Qianzhu</a:t>
            </a:r>
            <a:r>
              <a:rPr lang="en-US" sz="1000" dirty="0"/>
              <a:t> H, Abdelkader EH, </a:t>
            </a:r>
            <a:r>
              <a:rPr lang="en-US" sz="1000" dirty="0" err="1"/>
              <a:t>Habel</a:t>
            </a:r>
            <a:r>
              <a:rPr lang="en-US" sz="1000" dirty="0"/>
              <a:t> EI, Tan YJ, </a:t>
            </a:r>
            <a:r>
              <a:rPr lang="en-US" sz="1000" dirty="0" err="1"/>
              <a:t>Frkic</a:t>
            </a:r>
            <a:r>
              <a:rPr lang="en-US" sz="1000" dirty="0"/>
              <a:t> RL, Jackson CJ, Huber T, </a:t>
            </a:r>
            <a:r>
              <a:rPr lang="en-US" sz="1000" dirty="0" err="1"/>
              <a:t>Otting</a:t>
            </a:r>
            <a:r>
              <a:rPr lang="en-US" sz="1000" dirty="0"/>
              <a:t> G.  J Am Chem Soc. 2021 Nov 15. </a:t>
            </a:r>
            <a:r>
              <a:rPr lang="en-US" sz="1000" dirty="0" err="1"/>
              <a:t>doi</a:t>
            </a:r>
            <a:r>
              <a:rPr lang="en-US" sz="1000" dirty="0"/>
              <a:t>: 10.1021/jacs.1c10104</a:t>
            </a:r>
          </a:p>
          <a:p>
            <a:r>
              <a:rPr lang="en-US" sz="1000" baseline="30000" dirty="0"/>
              <a:t>7 </a:t>
            </a:r>
            <a:r>
              <a:rPr lang="en-US" sz="1000" dirty="0"/>
              <a:t> Bryson, D., Fan, C., Guo, LT. </a:t>
            </a:r>
            <a:r>
              <a:rPr lang="en-US" sz="1000" i="1" dirty="0"/>
              <a:t>et al.</a:t>
            </a:r>
            <a:r>
              <a:rPr lang="en-US" sz="1000" dirty="0"/>
              <a:t> Continuous directed evolution of aminoacyl-tRNA synthetases. </a:t>
            </a:r>
            <a:r>
              <a:rPr lang="en-US" sz="1000" i="1" dirty="0"/>
              <a:t>Nat Chem Biol</a:t>
            </a:r>
            <a:r>
              <a:rPr lang="en-US" sz="1000" dirty="0"/>
              <a:t> </a:t>
            </a:r>
            <a:r>
              <a:rPr lang="en-US" sz="1000" b="1" dirty="0"/>
              <a:t>13</a:t>
            </a:r>
            <a:r>
              <a:rPr lang="en-US" sz="1000" dirty="0"/>
              <a:t>, 1253–1260 (2017). </a:t>
            </a:r>
            <a:endParaRPr lang="en-US" sz="1000" baseline="30000" dirty="0"/>
          </a:p>
          <a:p>
            <a:endParaRPr lang="en-US" sz="1000" baseline="300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9E857C9-86EE-FB83-CB5A-A023A60E31FE}"/>
              </a:ext>
            </a:extLst>
          </p:cNvPr>
          <p:cNvCxnSpPr/>
          <p:nvPr/>
        </p:nvCxnSpPr>
        <p:spPr>
          <a:xfrm flipH="1">
            <a:off x="9597592" y="3732944"/>
            <a:ext cx="2545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C70542F-F13C-9B9A-45C0-0827C1D5C951}"/>
              </a:ext>
            </a:extLst>
          </p:cNvPr>
          <p:cNvSpPr txBox="1"/>
          <p:nvPr/>
        </p:nvSpPr>
        <p:spPr>
          <a:xfrm>
            <a:off x="9852126" y="3609833"/>
            <a:ext cx="2290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Also includes: </a:t>
            </a:r>
            <a:r>
              <a:rPr lang="pt-BR" sz="1000" dirty="0"/>
              <a:t>V31I, T56P, H62Y, A100E (IPYE)</a:t>
            </a:r>
            <a:r>
              <a:rPr lang="en-US" sz="1000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459536-76BC-DC6E-D000-3B4C538AF3B8}"/>
              </a:ext>
            </a:extLst>
          </p:cNvPr>
          <p:cNvSpPr txBox="1"/>
          <p:nvPr/>
        </p:nvSpPr>
        <p:spPr>
          <a:xfrm>
            <a:off x="1794500" y="4457078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6/9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04BCFC-807B-5D62-09A1-62C04BE2E867}"/>
              </a:ext>
            </a:extLst>
          </p:cNvPr>
          <p:cNvSpPr txBox="1"/>
          <p:nvPr/>
        </p:nvSpPr>
        <p:spPr>
          <a:xfrm>
            <a:off x="2534129" y="4457078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0/9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5CC3C3-2556-0D52-C6E2-A9DE9E341379}"/>
              </a:ext>
            </a:extLst>
          </p:cNvPr>
          <p:cNvSpPr txBox="1"/>
          <p:nvPr/>
        </p:nvSpPr>
        <p:spPr>
          <a:xfrm>
            <a:off x="3349260" y="4457078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7/9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DD4818-353B-F0FA-A43C-1575C97FFB7C}"/>
              </a:ext>
            </a:extLst>
          </p:cNvPr>
          <p:cNvSpPr txBox="1"/>
          <p:nvPr/>
        </p:nvSpPr>
        <p:spPr>
          <a:xfrm>
            <a:off x="4148811" y="4440380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8/9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327F3F-EE00-F43B-CABA-185D5BD0D0F2}"/>
              </a:ext>
            </a:extLst>
          </p:cNvPr>
          <p:cNvSpPr txBox="1"/>
          <p:nvPr/>
        </p:nvSpPr>
        <p:spPr>
          <a:xfrm>
            <a:off x="4963942" y="4461352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7/9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3D28F4-93DE-5D92-DED4-D5A8EF3EB854}"/>
              </a:ext>
            </a:extLst>
          </p:cNvPr>
          <p:cNvSpPr txBox="1"/>
          <p:nvPr/>
        </p:nvSpPr>
        <p:spPr>
          <a:xfrm>
            <a:off x="5779073" y="4457078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0/9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2889F8-A932-3A00-D965-D10B156FD948}"/>
              </a:ext>
            </a:extLst>
          </p:cNvPr>
          <p:cNvSpPr txBox="1"/>
          <p:nvPr/>
        </p:nvSpPr>
        <p:spPr>
          <a:xfrm>
            <a:off x="6579824" y="4448769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9/9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0AEC1E-BD84-AFE8-7B7A-618BE80B2EB8}"/>
              </a:ext>
            </a:extLst>
          </p:cNvPr>
          <p:cNvSpPr txBox="1"/>
          <p:nvPr/>
        </p:nvSpPr>
        <p:spPr>
          <a:xfrm>
            <a:off x="8929304" y="4413739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0/9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B7A9A7-7BA7-487D-169C-E3D4B5CEE104}"/>
              </a:ext>
            </a:extLst>
          </p:cNvPr>
          <p:cNvSpPr txBox="1"/>
          <p:nvPr/>
        </p:nvSpPr>
        <p:spPr>
          <a:xfrm>
            <a:off x="7358744" y="4457078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1/9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7B1E4D-E8D5-29F9-7ACB-8F972247F126}"/>
              </a:ext>
            </a:extLst>
          </p:cNvPr>
          <p:cNvSpPr txBox="1"/>
          <p:nvPr/>
        </p:nvSpPr>
        <p:spPr>
          <a:xfrm>
            <a:off x="8159495" y="4457078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1/9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043778-91A2-F0CF-5A8F-3D37B7AD3C9D}"/>
              </a:ext>
            </a:extLst>
          </p:cNvPr>
          <p:cNvSpPr txBox="1"/>
          <p:nvPr/>
        </p:nvSpPr>
        <p:spPr>
          <a:xfrm>
            <a:off x="565310" y="4471158"/>
            <a:ext cx="11256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# times mutated: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2D14B9-DC07-30A7-CCA9-51E18A02BCFB}"/>
              </a:ext>
            </a:extLst>
          </p:cNvPr>
          <p:cNvSpPr txBox="1"/>
          <p:nvPr/>
        </p:nvSpPr>
        <p:spPr>
          <a:xfrm>
            <a:off x="3232274" y="4804508"/>
            <a:ext cx="2907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(Residues in italics are mutated from WT)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F8B4322-E994-FC04-9DF8-C528C3E716E6}"/>
              </a:ext>
            </a:extLst>
          </p:cNvPr>
          <p:cNvCxnSpPr/>
          <p:nvPr/>
        </p:nvCxnSpPr>
        <p:spPr>
          <a:xfrm flipH="1">
            <a:off x="9647273" y="2154767"/>
            <a:ext cx="2545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4AB1E08-3E07-628E-0229-E0026CFE8468}"/>
              </a:ext>
            </a:extLst>
          </p:cNvPr>
          <p:cNvSpPr txBox="1"/>
          <p:nvPr/>
        </p:nvSpPr>
        <p:spPr>
          <a:xfrm>
            <a:off x="9901806" y="2061430"/>
            <a:ext cx="229019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AST to </a:t>
            </a:r>
            <a:r>
              <a:rPr lang="en-US" sz="1000" i="1" dirty="0" err="1"/>
              <a:t>Malvus</a:t>
            </a:r>
            <a:r>
              <a:rPr lang="en-US" sz="1000" i="1" dirty="0"/>
              <a:t> </a:t>
            </a:r>
            <a:r>
              <a:rPr lang="en-US" sz="1000" dirty="0"/>
              <a:t>RS was not functional for </a:t>
            </a:r>
            <a:r>
              <a:rPr lang="en-US" sz="1000" dirty="0" err="1"/>
              <a:t>AcK</a:t>
            </a:r>
            <a:r>
              <a:rPr lang="en-US" sz="1000" dirty="0"/>
              <a:t> </a:t>
            </a:r>
            <a:r>
              <a:rPr lang="en-US" sz="600" dirty="0"/>
              <a:t>(J Mol Biol. 2022 Apr 30;434(8):167453. </a:t>
            </a:r>
            <a:r>
              <a:rPr lang="en-US" sz="600" dirty="0" err="1"/>
              <a:t>doi</a:t>
            </a:r>
            <a:r>
              <a:rPr lang="en-US" sz="600" dirty="0"/>
              <a:t>: 10.1016/j.jmb.2022.167453.)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584AF3-78D6-6BA8-DFFD-F1F382A5C9B2}"/>
              </a:ext>
            </a:extLst>
          </p:cNvPr>
          <p:cNvSpPr txBox="1"/>
          <p:nvPr/>
        </p:nvSpPr>
        <p:spPr>
          <a:xfrm rot="16200000">
            <a:off x="-55177" y="1226578"/>
            <a:ext cx="10150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Wild-type </a:t>
            </a:r>
          </a:p>
          <a:p>
            <a:pPr algn="ctr"/>
            <a:r>
              <a:rPr lang="en-US" sz="1400" b="1" dirty="0" err="1"/>
              <a:t>PylRSs</a:t>
            </a:r>
            <a:endParaRPr lang="en-US" sz="1400" b="1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5F6E7F1-F5FE-BB5D-B51F-3B23120A7220}"/>
              </a:ext>
            </a:extLst>
          </p:cNvPr>
          <p:cNvCxnSpPr/>
          <p:nvPr/>
        </p:nvCxnSpPr>
        <p:spPr>
          <a:xfrm>
            <a:off x="88085" y="2014761"/>
            <a:ext cx="6521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7436A9D-A8D9-B4A0-5359-31B2EF0EAABD}"/>
              </a:ext>
            </a:extLst>
          </p:cNvPr>
          <p:cNvSpPr txBox="1"/>
          <p:nvPr/>
        </p:nvSpPr>
        <p:spPr>
          <a:xfrm rot="16200000">
            <a:off x="77551" y="2577858"/>
            <a:ext cx="7495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 err="1"/>
              <a:t>AcK</a:t>
            </a:r>
            <a:r>
              <a:rPr lang="en-US" sz="1400" b="1" dirty="0"/>
              <a:t> </a:t>
            </a:r>
          </a:p>
          <a:p>
            <a:pPr algn="ctr"/>
            <a:r>
              <a:rPr lang="en-US" sz="1400" b="1" dirty="0" err="1"/>
              <a:t>PylRSs</a:t>
            </a:r>
            <a:endParaRPr lang="en-US" sz="14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A62EF6-E3E6-9DDC-0F91-2F25BAFC75BE}"/>
              </a:ext>
            </a:extLst>
          </p:cNvPr>
          <p:cNvSpPr txBox="1"/>
          <p:nvPr/>
        </p:nvSpPr>
        <p:spPr>
          <a:xfrm rot="16200000">
            <a:off x="60381" y="3904304"/>
            <a:ext cx="7495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 err="1"/>
              <a:t>TfAcK</a:t>
            </a:r>
            <a:r>
              <a:rPr lang="en-US" sz="1400" b="1" dirty="0"/>
              <a:t> </a:t>
            </a:r>
          </a:p>
          <a:p>
            <a:pPr algn="ctr"/>
            <a:r>
              <a:rPr lang="en-US" sz="1400" b="1" dirty="0" err="1"/>
              <a:t>PylRSs</a:t>
            </a:r>
            <a:endParaRPr lang="en-US" sz="1400" b="1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1953CE4-80CB-F60E-0B67-F1BB1A60DE1C}"/>
              </a:ext>
            </a:extLst>
          </p:cNvPr>
          <p:cNvCxnSpPr/>
          <p:nvPr/>
        </p:nvCxnSpPr>
        <p:spPr>
          <a:xfrm>
            <a:off x="96671" y="3829466"/>
            <a:ext cx="652197" cy="0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9CE3DD9-2930-92E2-8C8A-0BC677EC5159}"/>
              </a:ext>
            </a:extLst>
          </p:cNvPr>
          <p:cNvCxnSpPr>
            <a:cxnSpLocks/>
          </p:cNvCxnSpPr>
          <p:nvPr/>
        </p:nvCxnSpPr>
        <p:spPr>
          <a:xfrm flipH="1">
            <a:off x="9637732" y="2411670"/>
            <a:ext cx="1368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E8082A6-27E6-EF16-9752-491737F0DF98}"/>
              </a:ext>
            </a:extLst>
          </p:cNvPr>
          <p:cNvCxnSpPr>
            <a:cxnSpLocks/>
          </p:cNvCxnSpPr>
          <p:nvPr/>
        </p:nvCxnSpPr>
        <p:spPr>
          <a:xfrm>
            <a:off x="9778061" y="2402962"/>
            <a:ext cx="0" cy="379427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9435BD0-C76B-662E-3BF6-0B6E7E1E473F}"/>
              </a:ext>
            </a:extLst>
          </p:cNvPr>
          <p:cNvCxnSpPr>
            <a:cxnSpLocks/>
          </p:cNvCxnSpPr>
          <p:nvPr/>
        </p:nvCxnSpPr>
        <p:spPr>
          <a:xfrm flipH="1">
            <a:off x="9774539" y="2782389"/>
            <a:ext cx="258568" cy="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40A6DD9-8850-E84A-CA08-13A25DF1A15B}"/>
              </a:ext>
            </a:extLst>
          </p:cNvPr>
          <p:cNvSpPr txBox="1"/>
          <p:nvPr/>
        </p:nvSpPr>
        <p:spPr>
          <a:xfrm>
            <a:off x="9983699" y="2649846"/>
            <a:ext cx="22901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Also permissive for </a:t>
            </a:r>
            <a:r>
              <a:rPr lang="en-US" sz="1000" dirty="0" err="1"/>
              <a:t>TfAcK</a:t>
            </a:r>
            <a:r>
              <a:rPr lang="en-US" sz="1000" dirty="0"/>
              <a:t> </a:t>
            </a:r>
            <a:r>
              <a:rPr lang="en-US" sz="600" dirty="0"/>
              <a:t>(</a:t>
            </a:r>
            <a:r>
              <a:rPr lang="en-US" sz="600" i="1" dirty="0"/>
              <a:t>ACS Chem. Biol.</a:t>
            </a:r>
            <a:r>
              <a:rPr lang="en-US" sz="600" dirty="0"/>
              <a:t> 2022, 17, 5, 1022–1029 </a:t>
            </a:r>
            <a:r>
              <a:rPr lang="en-US" sz="600" dirty="0">
                <a:hlinkClick r:id="rId2" tooltip="DOI URL"/>
              </a:rPr>
              <a:t>https://doi.org/10.1021/acschembio.2c00016</a:t>
            </a:r>
            <a:r>
              <a:rPr lang="en-US" sz="600" dirty="0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2793164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CE91896-E75E-1C7B-426A-5F9C8DEF49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286535"/>
              </p:ext>
            </p:extLst>
          </p:nvPr>
        </p:nvGraphicFramePr>
        <p:xfrm>
          <a:off x="455748" y="998340"/>
          <a:ext cx="11241448" cy="4467608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1405181">
                  <a:extLst>
                    <a:ext uri="{9D8B030D-6E8A-4147-A177-3AD203B41FA5}">
                      <a16:colId xmlns:a16="http://schemas.microsoft.com/office/drawing/2014/main" val="3692178912"/>
                    </a:ext>
                  </a:extLst>
                </a:gridCol>
                <a:gridCol w="1405181">
                  <a:extLst>
                    <a:ext uri="{9D8B030D-6E8A-4147-A177-3AD203B41FA5}">
                      <a16:colId xmlns:a16="http://schemas.microsoft.com/office/drawing/2014/main" val="1132350531"/>
                    </a:ext>
                  </a:extLst>
                </a:gridCol>
                <a:gridCol w="1405181">
                  <a:extLst>
                    <a:ext uri="{9D8B030D-6E8A-4147-A177-3AD203B41FA5}">
                      <a16:colId xmlns:a16="http://schemas.microsoft.com/office/drawing/2014/main" val="2874400229"/>
                    </a:ext>
                  </a:extLst>
                </a:gridCol>
                <a:gridCol w="1405181">
                  <a:extLst>
                    <a:ext uri="{9D8B030D-6E8A-4147-A177-3AD203B41FA5}">
                      <a16:colId xmlns:a16="http://schemas.microsoft.com/office/drawing/2014/main" val="3210684873"/>
                    </a:ext>
                  </a:extLst>
                </a:gridCol>
                <a:gridCol w="1405181">
                  <a:extLst>
                    <a:ext uri="{9D8B030D-6E8A-4147-A177-3AD203B41FA5}">
                      <a16:colId xmlns:a16="http://schemas.microsoft.com/office/drawing/2014/main" val="2195964170"/>
                    </a:ext>
                  </a:extLst>
                </a:gridCol>
                <a:gridCol w="1405181">
                  <a:extLst>
                    <a:ext uri="{9D8B030D-6E8A-4147-A177-3AD203B41FA5}">
                      <a16:colId xmlns:a16="http://schemas.microsoft.com/office/drawing/2014/main" val="3803509893"/>
                    </a:ext>
                  </a:extLst>
                </a:gridCol>
                <a:gridCol w="1405181">
                  <a:extLst>
                    <a:ext uri="{9D8B030D-6E8A-4147-A177-3AD203B41FA5}">
                      <a16:colId xmlns:a16="http://schemas.microsoft.com/office/drawing/2014/main" val="30787120"/>
                    </a:ext>
                  </a:extLst>
                </a:gridCol>
                <a:gridCol w="1405181">
                  <a:extLst>
                    <a:ext uri="{9D8B030D-6E8A-4147-A177-3AD203B41FA5}">
                      <a16:colId xmlns:a16="http://schemas.microsoft.com/office/drawing/2014/main" val="33851744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Primer Bases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 Variants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334530"/>
                  </a:ext>
                </a:extLst>
              </a:tr>
              <a:tr h="38836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 [CTC]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 [CTG]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M[ATG]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H[CAC]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4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NKIMHQLL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153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A[GCC]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728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L[CTG]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I[ATT]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L[CTT]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4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1997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Y[TAC]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L[CTT]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F[TTT]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Y[TAT]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TWM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4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(Stop)YLF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864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M[ATG]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A[GCG]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L[CTG]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VYG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3*2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TMPLAV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236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[AAT]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626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V[GTG]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F[TTT]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S[TCT]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A[GCT]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KYC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4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AVSF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03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Y[TAC]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Y[TAC]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W[TGG]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4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(TAG)YCW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4182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A[GCC]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V[GTT]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C[TGT]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2*3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AGVSCF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216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W[TGG]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024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4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en-US" sz="1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*3</a:t>
                      </a:r>
                      <a:r>
                        <a:rPr lang="en-US" sz="14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=36864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191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6950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FE2582-4714-DE24-978A-A610A948E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525" y="622998"/>
            <a:ext cx="8610950" cy="57406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4FCAAD-0BB8-AE2C-7648-DD9964774EBB}"/>
              </a:ext>
            </a:extLst>
          </p:cNvPr>
          <p:cNvSpPr txBox="1"/>
          <p:nvPr/>
        </p:nvSpPr>
        <p:spPr>
          <a:xfrm>
            <a:off x="2323750" y="2311166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W239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5E9640-ADDC-FB8A-2088-EB9E0C0DB822}"/>
              </a:ext>
            </a:extLst>
          </p:cNvPr>
          <p:cNvSpPr txBox="1"/>
          <p:nvPr/>
        </p:nvSpPr>
        <p:spPr>
          <a:xfrm>
            <a:off x="3919057" y="3090446"/>
            <a:ext cx="6383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V168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4306D3-C973-73B1-5D16-CD8EFFAC350E}"/>
              </a:ext>
            </a:extLst>
          </p:cNvPr>
          <p:cNvSpPr txBox="1"/>
          <p:nvPr/>
        </p:nvSpPr>
        <p:spPr>
          <a:xfrm>
            <a:off x="5120080" y="3544250"/>
            <a:ext cx="6607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N266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625B5F-3AFC-BF2C-C6AF-27D322EF49E5}"/>
              </a:ext>
            </a:extLst>
          </p:cNvPr>
          <p:cNvSpPr txBox="1"/>
          <p:nvPr/>
        </p:nvSpPr>
        <p:spPr>
          <a:xfrm>
            <a:off x="2957119" y="4168122"/>
            <a:ext cx="6383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A223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017AC5-FC9A-F6F7-4406-8A61E3D4CE39}"/>
              </a:ext>
            </a:extLst>
          </p:cNvPr>
          <p:cNvSpPr txBox="1"/>
          <p:nvPr/>
        </p:nvSpPr>
        <p:spPr>
          <a:xfrm>
            <a:off x="3432495" y="2226283"/>
            <a:ext cx="6799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M129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0A6E5A-8B37-D09A-9726-44A166010374}"/>
              </a:ext>
            </a:extLst>
          </p:cNvPr>
          <p:cNvSpPr txBox="1"/>
          <p:nvPr/>
        </p:nvSpPr>
        <p:spPr>
          <a:xfrm>
            <a:off x="4503490" y="1135076"/>
            <a:ext cx="631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Y126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A89999-EB56-7ECE-A710-52AB58292695}"/>
              </a:ext>
            </a:extLst>
          </p:cNvPr>
          <p:cNvSpPr txBox="1"/>
          <p:nvPr/>
        </p:nvSpPr>
        <p:spPr>
          <a:xfrm>
            <a:off x="5062757" y="2751892"/>
            <a:ext cx="617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L125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1AD2C0-1D72-A9A0-B380-EA86D4AB90B4}"/>
              </a:ext>
            </a:extLst>
          </p:cNvPr>
          <p:cNvSpPr txBox="1"/>
          <p:nvPr/>
        </p:nvSpPr>
        <p:spPr>
          <a:xfrm>
            <a:off x="5533966" y="2128811"/>
            <a:ext cx="6383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A122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2F07C0-CC52-0438-DBE9-E4ACABD1AF28}"/>
              </a:ext>
            </a:extLst>
          </p:cNvPr>
          <p:cNvSpPr txBox="1"/>
          <p:nvPr/>
        </p:nvSpPr>
        <p:spPr>
          <a:xfrm>
            <a:off x="7078938" y="3374973"/>
            <a:ext cx="617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L121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24F3C4-696A-BDBD-2121-13B572896F25}"/>
              </a:ext>
            </a:extLst>
          </p:cNvPr>
          <p:cNvSpPr txBox="1"/>
          <p:nvPr/>
        </p:nvSpPr>
        <p:spPr>
          <a:xfrm>
            <a:off x="490755" y="126613"/>
            <a:ext cx="556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M. </a:t>
            </a:r>
            <a:r>
              <a:rPr lang="en-US" b="1" i="1" dirty="0" err="1"/>
              <a:t>mazei</a:t>
            </a:r>
            <a:r>
              <a:rPr lang="en-US" b="1" i="1" dirty="0"/>
              <a:t> </a:t>
            </a:r>
            <a:r>
              <a:rPr lang="en-US" b="1" dirty="0"/>
              <a:t>structure labeled with M. </a:t>
            </a:r>
            <a:r>
              <a:rPr lang="en-US" b="1" dirty="0" err="1"/>
              <a:t>alvus</a:t>
            </a:r>
            <a:r>
              <a:rPr lang="en-US" b="1" dirty="0"/>
              <a:t> numbering</a:t>
            </a:r>
          </a:p>
        </p:txBody>
      </p:sp>
    </p:spTree>
    <p:extLst>
      <p:ext uri="{BB962C8B-B14F-4D97-AF65-F5344CB8AC3E}">
        <p14:creationId xmlns:p14="http://schemas.microsoft.com/office/powerpoint/2010/main" val="2363517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5C16D-795A-0A6D-9FA4-CA8733F4A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Georgia Pro" panose="02040502050405020303" pitchFamily="18" charset="0"/>
              </a:rPr>
              <a:t>Current efforts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2C51A-24EB-F101-63F1-B839ADFFF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4656"/>
            <a:ext cx="10515600" cy="4742307"/>
          </a:xfrm>
        </p:spPr>
        <p:txBody>
          <a:bodyPr>
            <a:normAutofit/>
          </a:bodyPr>
          <a:lstStyle/>
          <a:p>
            <a:r>
              <a:rPr lang="en-US" sz="2000" dirty="0">
                <a:ea typeface="Aptos" panose="020B0004020202020204" pitchFamily="34" charset="0"/>
              </a:rPr>
              <a:t>C</a:t>
            </a:r>
            <a:r>
              <a:rPr lang="en-US" sz="2000" dirty="0">
                <a:effectLst/>
                <a:ea typeface="Aptos" panose="020B0004020202020204" pitchFamily="34" charset="0"/>
              </a:rPr>
              <a:t>onstructed a focused library of Ma-RS</a:t>
            </a:r>
            <a:r>
              <a:rPr lang="en-US" sz="2000" i="1" dirty="0">
                <a:effectLst/>
                <a:ea typeface="Aptos" panose="020B0004020202020204" pitchFamily="34" charset="0"/>
              </a:rPr>
              <a:t> </a:t>
            </a:r>
            <a:r>
              <a:rPr lang="en-US" sz="2000" dirty="0">
                <a:effectLst/>
                <a:ea typeface="Aptos" panose="020B0004020202020204" pitchFamily="34" charset="0"/>
              </a:rPr>
              <a:t>variants based on active site mutations found in previously published </a:t>
            </a:r>
            <a:r>
              <a:rPr lang="en-US" sz="2000" i="1" dirty="0">
                <a:effectLst/>
                <a:ea typeface="Aptos" panose="020B0004020202020204" pitchFamily="34" charset="0"/>
              </a:rPr>
              <a:t>Mb</a:t>
            </a:r>
            <a:r>
              <a:rPr lang="en-US" sz="2000" dirty="0">
                <a:effectLst/>
                <a:ea typeface="Aptos" panose="020B0004020202020204" pitchFamily="34" charset="0"/>
              </a:rPr>
              <a:t> and </a:t>
            </a:r>
            <a:r>
              <a:rPr lang="en-US" sz="2000" i="1" dirty="0">
                <a:effectLst/>
                <a:ea typeface="Aptos" panose="020B0004020202020204" pitchFamily="34" charset="0"/>
              </a:rPr>
              <a:t>Mm</a:t>
            </a:r>
            <a:r>
              <a:rPr lang="en-US" sz="2000" dirty="0">
                <a:effectLst/>
                <a:ea typeface="Aptos" panose="020B0004020202020204" pitchFamily="34" charset="0"/>
              </a:rPr>
              <a:t> synthetases known to encode </a:t>
            </a:r>
            <a:r>
              <a:rPr lang="en-US" sz="2000" dirty="0" err="1">
                <a:effectLst/>
                <a:ea typeface="Aptos" panose="020B0004020202020204" pitchFamily="34" charset="0"/>
              </a:rPr>
              <a:t>acetyllysine</a:t>
            </a:r>
            <a:r>
              <a:rPr lang="en-US" sz="2000" baseline="30000" dirty="0">
                <a:effectLst/>
                <a:ea typeface="Aptos" panose="020B0004020202020204" pitchFamily="34" charset="0"/>
              </a:rPr>
              <a:t> [1] [3-8]</a:t>
            </a:r>
            <a:r>
              <a:rPr lang="en-US" sz="2000" dirty="0">
                <a:effectLst/>
                <a:ea typeface="Aptos" panose="020B0004020202020204" pitchFamily="34" charset="0"/>
              </a:rPr>
              <a:t>.</a:t>
            </a:r>
          </a:p>
          <a:p>
            <a:r>
              <a:rPr lang="en-US" sz="2000" dirty="0">
                <a:effectLst/>
                <a:ea typeface="Aptos" panose="020B0004020202020204" pitchFamily="34" charset="0"/>
              </a:rPr>
              <a:t>Alignment of the active site residues within these systems and the engineering of corresponding mutations in the Ma-RS</a:t>
            </a:r>
            <a:r>
              <a:rPr lang="en-US" sz="2000" i="1" dirty="0">
                <a:effectLst/>
                <a:ea typeface="Aptos" panose="020B0004020202020204" pitchFamily="34" charset="0"/>
              </a:rPr>
              <a:t> </a:t>
            </a:r>
            <a:r>
              <a:rPr lang="en-US" sz="2000" dirty="0">
                <a:effectLst/>
                <a:ea typeface="Aptos" panose="020B0004020202020204" pitchFamily="34" charset="0"/>
              </a:rPr>
              <a:t>active site led to the generation of a 36,864-member library designed for </a:t>
            </a:r>
            <a:r>
              <a:rPr lang="en-US" sz="2000" dirty="0" err="1">
                <a:effectLst/>
                <a:ea typeface="Aptos" panose="020B0004020202020204" pitchFamily="34" charset="0"/>
              </a:rPr>
              <a:t>acetyllysine</a:t>
            </a:r>
            <a:r>
              <a:rPr lang="en-US" sz="2000" dirty="0">
                <a:effectLst/>
                <a:ea typeface="Aptos" panose="020B0004020202020204" pitchFamily="34" charset="0"/>
              </a:rPr>
              <a:t> encoding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A1CED1-F826-0805-46F7-1D03509050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6028"/>
          <a:stretch/>
        </p:blipFill>
        <p:spPr>
          <a:xfrm>
            <a:off x="2193131" y="3174831"/>
            <a:ext cx="7805737" cy="3574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249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7751</TotalTime>
  <Words>1095</Words>
  <Application>Microsoft Office PowerPoint</Application>
  <PresentationFormat>Widescreen</PresentationFormat>
  <Paragraphs>431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Aptos Narrow</vt:lpstr>
      <vt:lpstr>Arial</vt:lpstr>
      <vt:lpstr>Georgia Pro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Current efforts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Divyansh</dc:creator>
  <cp:lastModifiedBy>Noonan, Ian</cp:lastModifiedBy>
  <cp:revision>26</cp:revision>
  <dcterms:created xsi:type="dcterms:W3CDTF">2024-05-13T20:42:06Z</dcterms:created>
  <dcterms:modified xsi:type="dcterms:W3CDTF">2025-04-29T22:02:56Z</dcterms:modified>
</cp:coreProperties>
</file>