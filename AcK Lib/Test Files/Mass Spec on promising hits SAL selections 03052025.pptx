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8" r:id="rId3"/>
    <p:sldId id="257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DCB5F-CB4C-668A-8383-659113EB84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7B4FE6-FDDF-12D8-0B74-03B58F9748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7458F7-1B81-6CE6-68A7-7404E855A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C64C5-52A7-47F8-B1D2-EC6834F07930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26F0D2-FE60-EFCF-8219-17E13C0EA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8FDFEB-4EE1-60F8-776F-9162768F7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B765A-3EBE-4B54-8779-3C568E85E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6710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05C64-0F98-5177-F841-7CDE3E8D8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D8ECC4-464C-89D5-1DE8-07A514B7F6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F0BF19-B160-EC89-E021-FC4A02F96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C64C5-52A7-47F8-B1D2-EC6834F07930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18EAAC-568E-D58C-5A6B-2E0C6CAB1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3F8095-4219-1907-2F6A-D6719789E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B765A-3EBE-4B54-8779-3C568E85E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4136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20E29-3FF6-2B38-D09A-789FC5E51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B70381-1961-5466-0858-844DC75B2C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9CFD8B-F035-4354-972F-38A4C83F9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C64C5-52A7-47F8-B1D2-EC6834F07930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4D0402-6C7C-5329-4A18-69975CA7E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1939BF-08C0-3881-C913-A25AF5D8A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B765A-3EBE-4B54-8779-3C568E85E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5405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1033C-0ED0-2770-C8D4-E28B4783B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C59104-5DBB-1618-1BBA-A1EC8C3F47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FC1936-980D-065B-7338-E90D0BA1F6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729A3A-4055-F000-5C1B-C23FF633A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C64C5-52A7-47F8-B1D2-EC6834F07930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D825C8-06E2-5F83-3E0A-29EE7947B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98F707-6A71-B6DF-389E-68F8A0BD3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B765A-3EBE-4B54-8779-3C568E85E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7020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E26EB-0337-C3D9-8133-D28F670C6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801C37-308F-41BF-FE15-D237D8EA0D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0F455C-B201-AF5C-D40E-74646ECEE0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E64DCD-1745-3982-EA40-AF1269F6BB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9E95D9-FC60-ABE2-5528-C8549FA71D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FB687E-67B7-0A9E-451C-93123C0F0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C64C5-52A7-47F8-B1D2-EC6834F07930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73E20E-D8D0-B602-8F27-5E0939444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9C6923-DAC4-A570-1777-43C0EAD3D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B765A-3EBE-4B54-8779-3C568E85E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7490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E791A-639E-269B-189B-10CD94607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C52693-F6EA-870E-5724-11E1FB340A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C64C5-52A7-47F8-B1D2-EC6834F07930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AB4DAB-F3DC-20B3-A22B-303F68F90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0F652F-3C8E-0B24-00A3-36E575D87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B765A-3EBE-4B54-8779-3C568E85E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185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7E5D9F-668B-2FCC-C4C2-4C9EFF861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C64C5-52A7-47F8-B1D2-EC6834F07930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E10374-56AF-9005-D3BB-FAFF39398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CF0996-478D-F571-F23F-12228F84C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B765A-3EBE-4B54-8779-3C568E85E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1446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D9FAD-D5A8-AD7D-B323-8DF20F6F6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8A13DD-7C0C-D0B9-4DA8-F6799609E5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F9F116-E8AD-5DC4-340C-693D85E313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9A8285-9800-684E-23B3-3223ED6F2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C64C5-52A7-47F8-B1D2-EC6834F07930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20EE27-783A-B12E-8C92-0BA0F1E02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C3FEC0-70BC-8955-91C7-937A8CE9D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B765A-3EBE-4B54-8779-3C568E85E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423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36AF5-5D0C-092A-FD17-B24A7330E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35BC9B-EB02-6BC1-A9E0-7F7CE30531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C5879A-8C38-35A9-F557-F77CFE6945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25F092-877D-754C-0EAB-6B917868F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C64C5-52A7-47F8-B1D2-EC6834F07930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A4E501-ECB8-48DA-D8D9-3DCC41A43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471144-613F-E055-2EF4-7B1038F1B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B765A-3EBE-4B54-8779-3C568E85E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5000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932BC-F3F4-F12F-87DA-9C33345AF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785B17-2082-8080-9BF3-66D68A4B32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2E5291-E709-D6DE-DB23-EAB7BA63E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C64C5-52A7-47F8-B1D2-EC6834F07930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22421C-638E-1072-D315-591F2C388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6AAE7C-AAD1-ECA0-5190-14A18EDC3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B765A-3EBE-4B54-8779-3C568E85E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4157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09F2E55-7925-73E5-ECFE-4D680A5879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2564A9-4C92-11E6-4196-BB4C983B41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1C75F2-D9EF-97B4-DE06-1B5D3529BA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C64C5-52A7-47F8-B1D2-EC6834F07930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533C64-16AE-58ED-2625-BA19236F3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005B97-AB4A-9CA7-7F59-C462915A0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B765A-3EBE-4B54-8779-3C568E85E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481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B855EF-F750-1C5A-5835-8F3EAE5D0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96B124-EC95-FE71-6A15-7D7672711F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12038C-3B8C-D23C-2FCD-710415477A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6C64C5-52A7-47F8-B1D2-EC6834F07930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BBDEBB-24E7-5EC7-58B5-A3D753C2CE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A71B61-3D4D-F1F3-DF4A-3ACA9ECE69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5B765A-3EBE-4B54-8779-3C568E85E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184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43BC8-53BF-E5D3-527D-E0629412100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Mass Spec</a:t>
            </a:r>
            <a:br>
              <a:rPr lang="en-US" dirty="0"/>
            </a:br>
            <a:r>
              <a:rPr lang="en-US" sz="4000" dirty="0"/>
              <a:t>Promising Hits from Small Ack Selections 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18B3AE-56DA-674A-9B41-FF9E4850902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Ian Noonan</a:t>
            </a:r>
          </a:p>
          <a:p>
            <a:r>
              <a:rPr lang="en-US" dirty="0"/>
              <a:t>3/5/2025</a:t>
            </a:r>
          </a:p>
        </p:txBody>
      </p:sp>
    </p:spTree>
    <p:extLst>
      <p:ext uri="{BB962C8B-B14F-4D97-AF65-F5344CB8AC3E}">
        <p14:creationId xmlns:p14="http://schemas.microsoft.com/office/powerpoint/2010/main" val="33911960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FD3BD-E363-3892-5A40-5531F5FDD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dirty="0"/>
              <a:t>Promising Hits; Origin of Hits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B16BA7-00E0-B0AB-9206-87DA106D1A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0416" y="1169906"/>
            <a:ext cx="9220200" cy="49565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/>
              <a:t>Library</a:t>
            </a:r>
            <a:r>
              <a:rPr lang="en-US" sz="1800" dirty="0"/>
              <a:t>: Small </a:t>
            </a:r>
            <a:r>
              <a:rPr lang="en-US" sz="1800" dirty="0" err="1"/>
              <a:t>AcK</a:t>
            </a:r>
            <a:r>
              <a:rPr lang="en-US" sz="1800" dirty="0"/>
              <a:t> Library</a:t>
            </a:r>
          </a:p>
          <a:p>
            <a:pPr marL="0" indent="0">
              <a:buNone/>
            </a:pPr>
            <a:r>
              <a:rPr lang="en-US" sz="1800" b="1" dirty="0"/>
              <a:t>Positive Selection Conditions</a:t>
            </a:r>
            <a:r>
              <a:rPr lang="en-US" sz="1800" dirty="0"/>
              <a:t>: +10 mM </a:t>
            </a:r>
            <a:r>
              <a:rPr lang="en-US" sz="1800" dirty="0" err="1"/>
              <a:t>AcK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/>
              <a:t>Fluorescent Selection Conditions</a:t>
            </a:r>
            <a:r>
              <a:rPr lang="en-US" sz="1800" dirty="0"/>
              <a:t>: +10 mM </a:t>
            </a:r>
            <a:r>
              <a:rPr lang="en-US" sz="1800" dirty="0" err="1"/>
              <a:t>AcK</a:t>
            </a:r>
            <a:endParaRPr lang="en-US" sz="1800" dirty="0"/>
          </a:p>
          <a:p>
            <a:pPr marL="0" indent="0">
              <a:buNone/>
            </a:pPr>
            <a:r>
              <a:rPr lang="en-US" sz="1800" dirty="0"/>
              <a:t>		</a:t>
            </a:r>
            <a:r>
              <a:rPr lang="en-US" sz="1800" u="sng" dirty="0"/>
              <a:t>Promising Hits: D9, E2</a:t>
            </a:r>
          </a:p>
          <a:p>
            <a:pPr marL="0" indent="0">
              <a:buNone/>
            </a:pPr>
            <a:r>
              <a:rPr lang="en-US" sz="1800" b="1" dirty="0"/>
              <a:t>Library</a:t>
            </a:r>
            <a:r>
              <a:rPr lang="en-US" sz="1800" dirty="0"/>
              <a:t>: Small </a:t>
            </a:r>
            <a:r>
              <a:rPr lang="en-US" sz="1800" dirty="0" err="1"/>
              <a:t>AcK</a:t>
            </a:r>
            <a:r>
              <a:rPr lang="en-US" sz="1800" dirty="0"/>
              <a:t> Library</a:t>
            </a:r>
          </a:p>
          <a:p>
            <a:pPr marL="0" indent="0">
              <a:buNone/>
            </a:pPr>
            <a:r>
              <a:rPr lang="en-US" sz="1800" b="1" dirty="0"/>
              <a:t>Positive Selection Conditions</a:t>
            </a:r>
            <a:r>
              <a:rPr lang="en-US" sz="1800" dirty="0"/>
              <a:t>: +10 mM Propionyl Lysine</a:t>
            </a:r>
          </a:p>
          <a:p>
            <a:pPr marL="0" indent="0">
              <a:buNone/>
            </a:pPr>
            <a:r>
              <a:rPr lang="en-US" sz="1800" b="1" dirty="0"/>
              <a:t>Fluorescent Selection Conditions</a:t>
            </a:r>
            <a:r>
              <a:rPr lang="en-US" sz="1800" dirty="0"/>
              <a:t>: +10 mM Propionyl Lysine</a:t>
            </a:r>
          </a:p>
          <a:p>
            <a:pPr marL="0" indent="0">
              <a:buNone/>
            </a:pPr>
            <a:r>
              <a:rPr lang="en-US" sz="1800" dirty="0"/>
              <a:t>		</a:t>
            </a:r>
            <a:r>
              <a:rPr lang="en-US" sz="1800" u="sng" dirty="0"/>
              <a:t>Promising Hits: C10,F4,H3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b="1" dirty="0"/>
              <a:t>Library</a:t>
            </a:r>
            <a:r>
              <a:rPr lang="en-US" sz="1800" dirty="0"/>
              <a:t>: Small </a:t>
            </a:r>
            <a:r>
              <a:rPr lang="en-US" sz="1800" dirty="0" err="1"/>
              <a:t>AcK</a:t>
            </a:r>
            <a:r>
              <a:rPr lang="en-US" sz="1800" dirty="0"/>
              <a:t> Library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b="1" dirty="0"/>
              <a:t>Positive Selection Conditions</a:t>
            </a:r>
            <a:r>
              <a:rPr lang="en-US" sz="1800" dirty="0"/>
              <a:t>: +10 mM Propionyl Lysine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b="1" dirty="0"/>
              <a:t>Fluorescent Selection Conditions</a:t>
            </a:r>
            <a:r>
              <a:rPr lang="en-US" sz="1800" dirty="0"/>
              <a:t>: +10 mM </a:t>
            </a:r>
            <a:r>
              <a:rPr lang="en-US" sz="1800" dirty="0" err="1"/>
              <a:t>AcK</a:t>
            </a:r>
            <a:endParaRPr lang="en-US" sz="18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/>
              <a:t>		</a:t>
            </a:r>
            <a:r>
              <a:rPr lang="en-US" sz="1800" u="sng" dirty="0"/>
              <a:t>Promising Hits: D5, E11</a:t>
            </a:r>
          </a:p>
          <a:p>
            <a:pPr marL="0" indent="0">
              <a:buNone/>
            </a:pPr>
            <a:endParaRPr lang="en-US" sz="1600" u="sng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u="sng" dirty="0"/>
          </a:p>
        </p:txBody>
      </p:sp>
    </p:spTree>
    <p:extLst>
      <p:ext uri="{BB962C8B-B14F-4D97-AF65-F5344CB8AC3E}">
        <p14:creationId xmlns:p14="http://schemas.microsoft.com/office/powerpoint/2010/main" val="31036036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64EEF-449B-BFA7-E7B7-4EC6E7CB0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of Hits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391AA7-FD0B-B180-A9B5-4E5A424554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E2: + 10 mM Ack, +1 mM Propionyl Lysine</a:t>
            </a:r>
          </a:p>
          <a:p>
            <a:r>
              <a:rPr lang="en-US" dirty="0"/>
              <a:t>H3: +10 mM </a:t>
            </a:r>
            <a:r>
              <a:rPr lang="en-US" dirty="0" err="1"/>
              <a:t>AcK</a:t>
            </a:r>
            <a:r>
              <a:rPr lang="en-US" dirty="0"/>
              <a:t>, +10 mM Propionyl Lysine</a:t>
            </a:r>
          </a:p>
          <a:p>
            <a:r>
              <a:rPr lang="en-US" dirty="0"/>
              <a:t>C10: +10 mM </a:t>
            </a:r>
            <a:r>
              <a:rPr lang="en-US" dirty="0" err="1"/>
              <a:t>AcK</a:t>
            </a:r>
            <a:r>
              <a:rPr lang="en-US" dirty="0"/>
              <a:t>, +10 Mm Propionyl Lysine </a:t>
            </a:r>
          </a:p>
          <a:p>
            <a:r>
              <a:rPr lang="en-US" dirty="0"/>
              <a:t>E11: + 10 mM </a:t>
            </a:r>
            <a:r>
              <a:rPr lang="en-US" dirty="0" err="1"/>
              <a:t>AcK</a:t>
            </a:r>
            <a:r>
              <a:rPr lang="en-US" dirty="0"/>
              <a:t>, +1 mM Propionyl Lysine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63687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BE64C2-B1A1-EC41-67D5-A1B28AFC8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A40E0-C710-A50E-7E8B-6AB4224A5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57" y="33563"/>
            <a:ext cx="4484914" cy="1325563"/>
          </a:xfrm>
        </p:spPr>
        <p:txBody>
          <a:bodyPr>
            <a:normAutofit/>
          </a:bodyPr>
          <a:lstStyle/>
          <a:p>
            <a:r>
              <a:rPr lang="en-US" sz="2000" b="1" dirty="0"/>
              <a:t>Library</a:t>
            </a:r>
            <a:r>
              <a:rPr lang="en-US" sz="2000" dirty="0"/>
              <a:t>: Small </a:t>
            </a:r>
            <a:r>
              <a:rPr lang="en-US" sz="2000" dirty="0" err="1"/>
              <a:t>AcK</a:t>
            </a:r>
            <a:r>
              <a:rPr lang="en-US" sz="2000" dirty="0"/>
              <a:t> Library </a:t>
            </a:r>
            <a:br>
              <a:rPr lang="en-US" sz="2000" dirty="0"/>
            </a:br>
            <a:r>
              <a:rPr lang="en-US" sz="2000" b="1" dirty="0"/>
              <a:t>Hit</a:t>
            </a:r>
            <a:r>
              <a:rPr lang="en-US" sz="2000" dirty="0"/>
              <a:t>: E2</a:t>
            </a:r>
            <a:br>
              <a:rPr lang="en-US" sz="2000" dirty="0"/>
            </a:br>
            <a:r>
              <a:rPr lang="en-US" sz="2000" b="1" dirty="0"/>
              <a:t>Protein</a:t>
            </a:r>
            <a:r>
              <a:rPr lang="en-US" sz="2000" dirty="0"/>
              <a:t>: sfGFP-150TAG</a:t>
            </a:r>
            <a:br>
              <a:rPr lang="en-US" sz="2000" dirty="0"/>
            </a:br>
            <a:r>
              <a:rPr lang="en-US" sz="2000" b="1" dirty="0"/>
              <a:t>Amino Acid</a:t>
            </a:r>
            <a:r>
              <a:rPr lang="en-US" sz="2000" dirty="0"/>
              <a:t>: </a:t>
            </a:r>
            <a:r>
              <a:rPr lang="en-US" sz="2000" u="sng" dirty="0"/>
              <a:t>Grown +10 mM </a:t>
            </a:r>
            <a:r>
              <a:rPr lang="en-US" sz="2000" u="sng" dirty="0" err="1"/>
              <a:t>Acetyllysine</a:t>
            </a:r>
            <a:endParaRPr lang="en-US" sz="20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913017A-563E-66B8-8CA5-02858A587445}"/>
              </a:ext>
            </a:extLst>
          </p:cNvPr>
          <p:cNvSpPr txBox="1">
            <a:spLocks/>
          </p:cNvSpPr>
          <p:nvPr/>
        </p:nvSpPr>
        <p:spPr>
          <a:xfrm>
            <a:off x="5236028" y="161809"/>
            <a:ext cx="6433458" cy="11973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indent="0">
              <a:buNone/>
            </a:pPr>
            <a:r>
              <a:rPr lang="en-US" sz="2000" b="1" dirty="0"/>
              <a:t>Positive Selection Conditions</a:t>
            </a:r>
            <a:r>
              <a:rPr lang="en-US" sz="2000" dirty="0"/>
              <a:t>: +10 mM </a:t>
            </a:r>
            <a:r>
              <a:rPr lang="en-US" sz="2000" dirty="0" err="1"/>
              <a:t>Acetyllysine</a:t>
            </a:r>
            <a:r>
              <a:rPr lang="en-US" sz="2000" dirty="0"/>
              <a:t> </a:t>
            </a:r>
          </a:p>
          <a:p>
            <a:pPr marL="0" indent="0">
              <a:buNone/>
            </a:pPr>
            <a:r>
              <a:rPr lang="en-US" sz="2000" b="1" dirty="0"/>
              <a:t>Fluorescent Selection Conditions</a:t>
            </a:r>
            <a:r>
              <a:rPr lang="en-US" sz="2000" dirty="0"/>
              <a:t>: +10 mM </a:t>
            </a:r>
            <a:r>
              <a:rPr lang="en-US" sz="2000" dirty="0" err="1"/>
              <a:t>Acetyllysine</a:t>
            </a:r>
            <a:r>
              <a:rPr lang="en-US" sz="2000" dirty="0"/>
              <a:t> </a:t>
            </a:r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4EC8111-85AD-9B72-C05D-75D4403E0C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8220" y="1326469"/>
            <a:ext cx="7155560" cy="543822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878E28A-EACB-5323-AEEA-DE8ACA4C0A69}"/>
              </a:ext>
            </a:extLst>
          </p:cNvPr>
          <p:cNvSpPr txBox="1"/>
          <p:nvPr/>
        </p:nvSpPr>
        <p:spPr>
          <a:xfrm>
            <a:off x="108857" y="2917371"/>
            <a:ext cx="293914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27,841.80 – Lysine</a:t>
            </a:r>
          </a:p>
          <a:p>
            <a:endParaRPr lang="en-US" dirty="0"/>
          </a:p>
          <a:p>
            <a:r>
              <a:rPr lang="en-US" dirty="0"/>
              <a:t>27,860.90 – Phenylalanine</a:t>
            </a:r>
          </a:p>
          <a:p>
            <a:endParaRPr lang="en-US" dirty="0"/>
          </a:p>
          <a:p>
            <a:r>
              <a:rPr lang="en-US" dirty="0"/>
              <a:t>27,975.70 – 281 Mw AA </a:t>
            </a:r>
          </a:p>
        </p:txBody>
      </p:sp>
    </p:spTree>
    <p:extLst>
      <p:ext uri="{BB962C8B-B14F-4D97-AF65-F5344CB8AC3E}">
        <p14:creationId xmlns:p14="http://schemas.microsoft.com/office/powerpoint/2010/main" val="21739185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07025-6D6E-1940-0C52-60B0E785D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4FCCB-5E13-7E80-DDBB-36FE49B6EE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56" y="33563"/>
            <a:ext cx="4931229" cy="1325563"/>
          </a:xfrm>
        </p:spPr>
        <p:txBody>
          <a:bodyPr>
            <a:noAutofit/>
          </a:bodyPr>
          <a:lstStyle/>
          <a:p>
            <a:r>
              <a:rPr lang="en-US" sz="2000" b="1" dirty="0"/>
              <a:t>Library</a:t>
            </a:r>
            <a:r>
              <a:rPr lang="en-US" sz="2000" dirty="0"/>
              <a:t>: Small </a:t>
            </a:r>
            <a:r>
              <a:rPr lang="en-US" sz="2000" dirty="0" err="1"/>
              <a:t>AcK</a:t>
            </a:r>
            <a:r>
              <a:rPr lang="en-US" sz="2000" dirty="0"/>
              <a:t> Library </a:t>
            </a:r>
            <a:br>
              <a:rPr lang="en-US" sz="2000" dirty="0"/>
            </a:br>
            <a:r>
              <a:rPr lang="en-US" sz="2000" b="1" dirty="0"/>
              <a:t>Hit</a:t>
            </a:r>
            <a:r>
              <a:rPr lang="en-US" sz="2000" dirty="0"/>
              <a:t>: E2</a:t>
            </a:r>
            <a:br>
              <a:rPr lang="en-US" sz="2000" dirty="0"/>
            </a:br>
            <a:r>
              <a:rPr lang="en-US" sz="2000" b="1" dirty="0"/>
              <a:t>Protein</a:t>
            </a:r>
            <a:r>
              <a:rPr lang="en-US" sz="2000" dirty="0"/>
              <a:t>: sfGFP-150TAG</a:t>
            </a:r>
            <a:br>
              <a:rPr lang="en-US" sz="2000" dirty="0"/>
            </a:br>
            <a:r>
              <a:rPr lang="en-US" sz="2000" b="1" dirty="0"/>
              <a:t>Amino Acid</a:t>
            </a:r>
            <a:r>
              <a:rPr lang="en-US" sz="2000" dirty="0"/>
              <a:t>: </a:t>
            </a:r>
            <a:r>
              <a:rPr lang="en-US" sz="2000" u="sng" dirty="0"/>
              <a:t>Grown +1 mM Propionyl Lysine</a:t>
            </a:r>
            <a:endParaRPr lang="en-US" sz="20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BFB6BCA-103E-820D-D8FC-79FDACD1F415}"/>
              </a:ext>
            </a:extLst>
          </p:cNvPr>
          <p:cNvSpPr txBox="1">
            <a:spLocks/>
          </p:cNvSpPr>
          <p:nvPr/>
        </p:nvSpPr>
        <p:spPr>
          <a:xfrm>
            <a:off x="5236028" y="161809"/>
            <a:ext cx="6433458" cy="11973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indent="0">
              <a:buNone/>
            </a:pPr>
            <a:r>
              <a:rPr lang="en-US" sz="2000" b="1" dirty="0"/>
              <a:t>Positive Selection Conditions</a:t>
            </a:r>
            <a:r>
              <a:rPr lang="en-US" sz="2000" dirty="0"/>
              <a:t>: +10 mM </a:t>
            </a:r>
            <a:r>
              <a:rPr lang="en-US" sz="2000" dirty="0" err="1"/>
              <a:t>Acetyllysine</a:t>
            </a:r>
            <a:r>
              <a:rPr lang="en-US" sz="2000" dirty="0"/>
              <a:t> </a:t>
            </a:r>
          </a:p>
          <a:p>
            <a:pPr marL="0" indent="0">
              <a:buNone/>
            </a:pPr>
            <a:r>
              <a:rPr lang="en-US" sz="2000" b="1" dirty="0"/>
              <a:t>Fluorescent Selection Conditions</a:t>
            </a:r>
            <a:r>
              <a:rPr lang="en-US" sz="2000" dirty="0"/>
              <a:t>: +10 mM </a:t>
            </a:r>
            <a:r>
              <a:rPr lang="en-US" sz="2000" dirty="0" err="1"/>
              <a:t>Acetyllysine</a:t>
            </a:r>
            <a:r>
              <a:rPr lang="en-US" sz="2000" dirty="0"/>
              <a:t> </a:t>
            </a:r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80964AD-459F-D23D-0197-71AF3E4384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6784" y="1359126"/>
            <a:ext cx="6898432" cy="51963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082C110-B94C-578A-142D-64AF41564D42}"/>
              </a:ext>
            </a:extLst>
          </p:cNvPr>
          <p:cNvSpPr txBox="1"/>
          <p:nvPr/>
        </p:nvSpPr>
        <p:spPr>
          <a:xfrm>
            <a:off x="108857" y="2917371"/>
            <a:ext cx="29391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27,839.09 – Lysine</a:t>
            </a:r>
          </a:p>
          <a:p>
            <a:endParaRPr lang="en-US" dirty="0"/>
          </a:p>
          <a:p>
            <a:r>
              <a:rPr lang="en-US" dirty="0"/>
              <a:t>27,860.90 – Phenylalanine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9209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DF5D8A-BA9C-6628-4E5C-EF1B8433DF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DE25D-5B83-A1E4-6E20-9744EEF748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57" y="33563"/>
            <a:ext cx="4484914" cy="1325563"/>
          </a:xfrm>
        </p:spPr>
        <p:txBody>
          <a:bodyPr>
            <a:normAutofit/>
          </a:bodyPr>
          <a:lstStyle/>
          <a:p>
            <a:r>
              <a:rPr lang="en-US" sz="2000" b="1" dirty="0"/>
              <a:t>Library</a:t>
            </a:r>
            <a:r>
              <a:rPr lang="en-US" sz="2000" dirty="0"/>
              <a:t>: Small </a:t>
            </a:r>
            <a:r>
              <a:rPr lang="en-US" sz="2000" dirty="0" err="1"/>
              <a:t>AcK</a:t>
            </a:r>
            <a:r>
              <a:rPr lang="en-US" sz="2000" dirty="0"/>
              <a:t> Library </a:t>
            </a:r>
            <a:br>
              <a:rPr lang="en-US" sz="2000" dirty="0"/>
            </a:br>
            <a:r>
              <a:rPr lang="en-US" sz="2000" b="1" dirty="0"/>
              <a:t>Hit</a:t>
            </a:r>
            <a:r>
              <a:rPr lang="en-US" sz="2000" dirty="0"/>
              <a:t>: E11</a:t>
            </a:r>
            <a:br>
              <a:rPr lang="en-US" sz="2000" dirty="0"/>
            </a:br>
            <a:r>
              <a:rPr lang="en-US" sz="2000" b="1" dirty="0"/>
              <a:t>Protein</a:t>
            </a:r>
            <a:r>
              <a:rPr lang="en-US" sz="2000" dirty="0"/>
              <a:t>: sfGFP-150TAG</a:t>
            </a:r>
            <a:br>
              <a:rPr lang="en-US" sz="2000" dirty="0"/>
            </a:br>
            <a:r>
              <a:rPr lang="en-US" sz="2000" b="1" dirty="0"/>
              <a:t>Amino Acid</a:t>
            </a:r>
            <a:r>
              <a:rPr lang="en-US" sz="2000" dirty="0"/>
              <a:t>: </a:t>
            </a:r>
            <a:r>
              <a:rPr lang="en-US" sz="2000" u="sng" dirty="0"/>
              <a:t>Grown +10 mM </a:t>
            </a:r>
            <a:r>
              <a:rPr lang="en-US" sz="2000" u="sng" dirty="0" err="1"/>
              <a:t>Acetyllysine</a:t>
            </a:r>
            <a:endParaRPr lang="en-US" sz="20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74FC7C4-7F81-4388-1F91-48393E9A4FB0}"/>
              </a:ext>
            </a:extLst>
          </p:cNvPr>
          <p:cNvSpPr txBox="1">
            <a:spLocks/>
          </p:cNvSpPr>
          <p:nvPr/>
        </p:nvSpPr>
        <p:spPr>
          <a:xfrm>
            <a:off x="5236028" y="161809"/>
            <a:ext cx="6433458" cy="11973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indent="0">
              <a:buNone/>
            </a:pPr>
            <a:r>
              <a:rPr lang="en-US" sz="2000" b="1" dirty="0"/>
              <a:t>Positive Selection Conditions</a:t>
            </a:r>
            <a:r>
              <a:rPr lang="en-US" sz="2000" dirty="0"/>
              <a:t>: +10 mM Propionyl Lysine </a:t>
            </a:r>
          </a:p>
          <a:p>
            <a:pPr marL="0" indent="0">
              <a:buNone/>
            </a:pPr>
            <a:r>
              <a:rPr lang="en-US" sz="2000" b="1" dirty="0"/>
              <a:t>Fluorescent Selection Conditions</a:t>
            </a:r>
            <a:r>
              <a:rPr lang="en-US" sz="2000" dirty="0"/>
              <a:t>: +10 mM </a:t>
            </a:r>
            <a:r>
              <a:rPr lang="en-US" sz="2000" dirty="0" err="1"/>
              <a:t>Acetyllysine</a:t>
            </a:r>
            <a:r>
              <a:rPr lang="en-US" sz="2000" dirty="0"/>
              <a:t> </a:t>
            </a:r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54C5E47-C9BD-290E-7006-085B5DD764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4632" y="1264040"/>
            <a:ext cx="7022735" cy="534358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8CF644D-C54F-53CB-594E-696A5CBE106C}"/>
              </a:ext>
            </a:extLst>
          </p:cNvPr>
          <p:cNvSpPr txBox="1"/>
          <p:nvPr/>
        </p:nvSpPr>
        <p:spPr>
          <a:xfrm>
            <a:off x="108857" y="2917371"/>
            <a:ext cx="293914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27,839.20 – Lysine</a:t>
            </a:r>
          </a:p>
          <a:p>
            <a:endParaRPr lang="en-US" dirty="0"/>
          </a:p>
          <a:p>
            <a:r>
              <a:rPr lang="en-US" dirty="0"/>
              <a:t>27,860.30 – Phenylalanine</a:t>
            </a:r>
          </a:p>
          <a:p>
            <a:endParaRPr lang="en-US" dirty="0"/>
          </a:p>
          <a:p>
            <a:r>
              <a:rPr lang="en-US" dirty="0"/>
              <a:t>27,833.50 – </a:t>
            </a:r>
            <a:r>
              <a:rPr lang="en-US" dirty="0" err="1"/>
              <a:t>Acetyllysine</a:t>
            </a:r>
            <a:r>
              <a:rPr lang="en-US" dirty="0"/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22777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B2CBFE-A27C-DD00-5810-B32EF778C4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92BC7-FF37-B9D4-A3F7-F4187F0E05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56" y="33563"/>
            <a:ext cx="5007429" cy="1325563"/>
          </a:xfrm>
        </p:spPr>
        <p:txBody>
          <a:bodyPr>
            <a:normAutofit/>
          </a:bodyPr>
          <a:lstStyle/>
          <a:p>
            <a:r>
              <a:rPr lang="en-US" sz="2000" b="1" dirty="0"/>
              <a:t>Library</a:t>
            </a:r>
            <a:r>
              <a:rPr lang="en-US" sz="2000" dirty="0"/>
              <a:t>: Small </a:t>
            </a:r>
            <a:r>
              <a:rPr lang="en-US" sz="2000" dirty="0" err="1"/>
              <a:t>AcK</a:t>
            </a:r>
            <a:r>
              <a:rPr lang="en-US" sz="2000" dirty="0"/>
              <a:t> Library </a:t>
            </a:r>
            <a:br>
              <a:rPr lang="en-US" sz="2000" dirty="0"/>
            </a:br>
            <a:r>
              <a:rPr lang="en-US" sz="2000" b="1" dirty="0"/>
              <a:t>Hit</a:t>
            </a:r>
            <a:r>
              <a:rPr lang="en-US" sz="2000" dirty="0"/>
              <a:t>: E11</a:t>
            </a:r>
            <a:br>
              <a:rPr lang="en-US" sz="2000" dirty="0"/>
            </a:br>
            <a:r>
              <a:rPr lang="en-US" sz="2000" b="1" dirty="0"/>
              <a:t>Protein</a:t>
            </a:r>
            <a:r>
              <a:rPr lang="en-US" sz="2000" dirty="0"/>
              <a:t>: sfGFP-150TAG</a:t>
            </a:r>
            <a:br>
              <a:rPr lang="en-US" sz="2000" dirty="0"/>
            </a:br>
            <a:r>
              <a:rPr lang="en-US" sz="2000" b="1" dirty="0"/>
              <a:t>Amino Acid</a:t>
            </a:r>
            <a:r>
              <a:rPr lang="en-US" sz="2000" dirty="0"/>
              <a:t>: </a:t>
            </a:r>
            <a:r>
              <a:rPr lang="en-US" sz="2000" u="sng" dirty="0"/>
              <a:t>Grown +1 mM Propionyl Lysine</a:t>
            </a:r>
            <a:endParaRPr lang="en-US" sz="20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7F0A986-0A3E-B198-F1E6-547B0F8230D4}"/>
              </a:ext>
            </a:extLst>
          </p:cNvPr>
          <p:cNvSpPr txBox="1">
            <a:spLocks/>
          </p:cNvSpPr>
          <p:nvPr/>
        </p:nvSpPr>
        <p:spPr>
          <a:xfrm>
            <a:off x="5236028" y="161809"/>
            <a:ext cx="6433458" cy="11973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indent="0">
              <a:buNone/>
            </a:pPr>
            <a:r>
              <a:rPr lang="en-US" sz="2000" b="1" dirty="0"/>
              <a:t>Positive Selection Conditions</a:t>
            </a:r>
            <a:r>
              <a:rPr lang="en-US" sz="2000" dirty="0"/>
              <a:t>: +10 mM Propionyl Lysine </a:t>
            </a:r>
          </a:p>
          <a:p>
            <a:pPr marL="0" indent="0">
              <a:buNone/>
            </a:pPr>
            <a:r>
              <a:rPr lang="en-US" sz="2000" b="1" dirty="0"/>
              <a:t>Fluorescent Selection Conditions</a:t>
            </a:r>
            <a:r>
              <a:rPr lang="en-US" sz="2000" dirty="0"/>
              <a:t>: +10 mM </a:t>
            </a:r>
            <a:r>
              <a:rPr lang="en-US" sz="2000" dirty="0" err="1"/>
              <a:t>Acetyllysine</a:t>
            </a:r>
            <a:r>
              <a:rPr lang="en-US" sz="2000" dirty="0"/>
              <a:t> </a:t>
            </a:r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4E58470-5998-EC61-91C2-4596E7A3A5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5500" y="1359126"/>
            <a:ext cx="7092885" cy="537085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486906B-6E3E-0710-5849-459FD415FE10}"/>
              </a:ext>
            </a:extLst>
          </p:cNvPr>
          <p:cNvSpPr txBox="1"/>
          <p:nvPr/>
        </p:nvSpPr>
        <p:spPr>
          <a:xfrm>
            <a:off x="108857" y="2917371"/>
            <a:ext cx="314597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27,840.09 – Lysine</a:t>
            </a:r>
          </a:p>
          <a:p>
            <a:endParaRPr lang="en-US" dirty="0"/>
          </a:p>
          <a:p>
            <a:r>
              <a:rPr lang="en-US" dirty="0"/>
              <a:t>27,860.59 – Phenylalanine</a:t>
            </a:r>
          </a:p>
          <a:p>
            <a:endParaRPr lang="en-US" dirty="0"/>
          </a:p>
          <a:p>
            <a:r>
              <a:rPr lang="en-US" dirty="0"/>
              <a:t>27,897.50 – Propionyl Lysine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8670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50CBC-E480-A234-0011-97AC9A90F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F5EB0-9BCE-DD83-37DF-34934AD5BC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56" y="33563"/>
            <a:ext cx="5007429" cy="1325563"/>
          </a:xfrm>
        </p:spPr>
        <p:txBody>
          <a:bodyPr>
            <a:normAutofit/>
          </a:bodyPr>
          <a:lstStyle/>
          <a:p>
            <a:r>
              <a:rPr lang="en-US" sz="2000" b="1" dirty="0"/>
              <a:t>Library</a:t>
            </a:r>
            <a:r>
              <a:rPr lang="en-US" sz="2000" dirty="0"/>
              <a:t>: Small </a:t>
            </a:r>
            <a:r>
              <a:rPr lang="en-US" sz="2000" dirty="0" err="1"/>
              <a:t>AcK</a:t>
            </a:r>
            <a:r>
              <a:rPr lang="en-US" sz="2000" dirty="0"/>
              <a:t> Library </a:t>
            </a:r>
            <a:br>
              <a:rPr lang="en-US" sz="2000" dirty="0"/>
            </a:br>
            <a:r>
              <a:rPr lang="en-US" sz="2000" b="1" dirty="0"/>
              <a:t>Hit</a:t>
            </a:r>
            <a:r>
              <a:rPr lang="en-US" sz="2000" dirty="0"/>
              <a:t>: C10</a:t>
            </a:r>
            <a:br>
              <a:rPr lang="en-US" sz="2000" dirty="0"/>
            </a:br>
            <a:r>
              <a:rPr lang="en-US" sz="2000" b="1" dirty="0"/>
              <a:t>Protein</a:t>
            </a:r>
            <a:r>
              <a:rPr lang="en-US" sz="2000" dirty="0"/>
              <a:t>: sfGFP-150TAG</a:t>
            </a:r>
            <a:br>
              <a:rPr lang="en-US" sz="2000" dirty="0"/>
            </a:br>
            <a:r>
              <a:rPr lang="en-US" sz="2000" b="1" dirty="0"/>
              <a:t>Amino Acid</a:t>
            </a:r>
            <a:r>
              <a:rPr lang="en-US" sz="2000" dirty="0"/>
              <a:t>: </a:t>
            </a:r>
            <a:r>
              <a:rPr lang="en-US" sz="2000" u="sng" dirty="0"/>
              <a:t>Grown +10 mM </a:t>
            </a:r>
            <a:r>
              <a:rPr lang="en-US" sz="2000" u="sng" dirty="0" err="1"/>
              <a:t>Acetyllysine</a:t>
            </a:r>
            <a:r>
              <a:rPr lang="en-US" sz="2000" u="sng" dirty="0"/>
              <a:t>  </a:t>
            </a:r>
            <a:endParaRPr lang="en-US" sz="20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0AC812C-D3D0-137F-BB25-901AFC0FF4F4}"/>
              </a:ext>
            </a:extLst>
          </p:cNvPr>
          <p:cNvSpPr txBox="1">
            <a:spLocks/>
          </p:cNvSpPr>
          <p:nvPr/>
        </p:nvSpPr>
        <p:spPr>
          <a:xfrm>
            <a:off x="5236028" y="161809"/>
            <a:ext cx="6433458" cy="11973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indent="0">
              <a:buNone/>
            </a:pPr>
            <a:r>
              <a:rPr lang="en-US" sz="2000" b="1" dirty="0"/>
              <a:t>Positive Selection Conditions</a:t>
            </a:r>
            <a:r>
              <a:rPr lang="en-US" sz="2000" dirty="0"/>
              <a:t>: +10 mM Propionyl Lysine </a:t>
            </a:r>
          </a:p>
          <a:p>
            <a:pPr marL="0" indent="0">
              <a:buNone/>
            </a:pPr>
            <a:r>
              <a:rPr lang="en-US" sz="2000" b="1" dirty="0"/>
              <a:t>Fluorescent Selection Conditions</a:t>
            </a:r>
            <a:r>
              <a:rPr lang="en-US" sz="2000" dirty="0"/>
              <a:t>: +10 mM Propionyl Lysine </a:t>
            </a:r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C30A8F7-4992-4F22-FEC0-F158F9A89F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8867" y="1353049"/>
            <a:ext cx="6984380" cy="534314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6C3DFF3-74D2-2FF9-FE84-CC3585FF3401}"/>
              </a:ext>
            </a:extLst>
          </p:cNvPr>
          <p:cNvSpPr txBox="1"/>
          <p:nvPr/>
        </p:nvSpPr>
        <p:spPr>
          <a:xfrm>
            <a:off x="108857" y="2917371"/>
            <a:ext cx="31459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27,840.80 – Lysine</a:t>
            </a:r>
          </a:p>
          <a:p>
            <a:endParaRPr lang="en-US" dirty="0"/>
          </a:p>
          <a:p>
            <a:r>
              <a:rPr lang="en-US" dirty="0"/>
              <a:t>27,883.20 – </a:t>
            </a:r>
            <a:r>
              <a:rPr lang="en-US" dirty="0" err="1"/>
              <a:t>Acetyllysine</a:t>
            </a:r>
            <a:r>
              <a:rPr lang="en-US" dirty="0"/>
              <a:t> 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30939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8DA37E-4F27-D25E-2632-01D441F27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74855-A149-5DA0-7C1E-8A9D68904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56" y="33563"/>
            <a:ext cx="5007429" cy="1325563"/>
          </a:xfrm>
        </p:spPr>
        <p:txBody>
          <a:bodyPr>
            <a:normAutofit/>
          </a:bodyPr>
          <a:lstStyle/>
          <a:p>
            <a:r>
              <a:rPr lang="en-US" sz="2000" b="1" dirty="0"/>
              <a:t>Library</a:t>
            </a:r>
            <a:r>
              <a:rPr lang="en-US" sz="2000" dirty="0"/>
              <a:t>: Small </a:t>
            </a:r>
            <a:r>
              <a:rPr lang="en-US" sz="2000" dirty="0" err="1"/>
              <a:t>AcK</a:t>
            </a:r>
            <a:r>
              <a:rPr lang="en-US" sz="2000" dirty="0"/>
              <a:t> Library </a:t>
            </a:r>
            <a:br>
              <a:rPr lang="en-US" sz="2000" dirty="0"/>
            </a:br>
            <a:r>
              <a:rPr lang="en-US" sz="2000" b="1" dirty="0"/>
              <a:t>Hit</a:t>
            </a:r>
            <a:r>
              <a:rPr lang="en-US" sz="2000" dirty="0"/>
              <a:t>: C10</a:t>
            </a:r>
            <a:br>
              <a:rPr lang="en-US" sz="2000" dirty="0"/>
            </a:br>
            <a:r>
              <a:rPr lang="en-US" sz="2000" b="1" dirty="0"/>
              <a:t>Protein</a:t>
            </a:r>
            <a:r>
              <a:rPr lang="en-US" sz="2000" dirty="0"/>
              <a:t>: sfGFP-150TAG</a:t>
            </a:r>
            <a:br>
              <a:rPr lang="en-US" sz="2000" dirty="0"/>
            </a:br>
            <a:r>
              <a:rPr lang="en-US" sz="2000" b="1" dirty="0"/>
              <a:t>Amino Acid</a:t>
            </a:r>
            <a:r>
              <a:rPr lang="en-US" sz="2000" dirty="0"/>
              <a:t>: </a:t>
            </a:r>
            <a:r>
              <a:rPr lang="en-US" sz="2000" u="sng" dirty="0"/>
              <a:t>Grown +10 mM Propionyl Lysine </a:t>
            </a:r>
            <a:endParaRPr lang="en-US" sz="20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B5D5815-6EEA-4CEB-105A-D30B1CD9DECC}"/>
              </a:ext>
            </a:extLst>
          </p:cNvPr>
          <p:cNvSpPr txBox="1">
            <a:spLocks/>
          </p:cNvSpPr>
          <p:nvPr/>
        </p:nvSpPr>
        <p:spPr>
          <a:xfrm>
            <a:off x="5236028" y="161809"/>
            <a:ext cx="6433458" cy="11973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indent="0">
              <a:buNone/>
            </a:pPr>
            <a:r>
              <a:rPr lang="en-US" sz="2000" b="1" dirty="0"/>
              <a:t>Positive Selection Conditions</a:t>
            </a:r>
            <a:r>
              <a:rPr lang="en-US" sz="2000" dirty="0"/>
              <a:t>: +10 mM Propionyl Lysine </a:t>
            </a:r>
          </a:p>
          <a:p>
            <a:pPr marL="0" indent="0">
              <a:buNone/>
            </a:pPr>
            <a:r>
              <a:rPr lang="en-US" sz="2000" b="1" dirty="0"/>
              <a:t>Fluorescent Selection Conditions</a:t>
            </a:r>
            <a:r>
              <a:rPr lang="en-US" sz="2000" dirty="0"/>
              <a:t>: +10 mM Propionyl Lysine </a:t>
            </a:r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DFAB134-02D7-D79E-9E39-DD14753423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3349" y="1348023"/>
            <a:ext cx="6985302" cy="521993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8A37389-B518-C28A-6E1D-425B01D0A5D1}"/>
              </a:ext>
            </a:extLst>
          </p:cNvPr>
          <p:cNvSpPr txBox="1"/>
          <p:nvPr/>
        </p:nvSpPr>
        <p:spPr>
          <a:xfrm>
            <a:off x="108857" y="2917371"/>
            <a:ext cx="31459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27,897.80 – Propionyl Lysine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93814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0FC36-72ED-E8B2-E19B-B8E81FCC0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9F75D-0CB9-029A-2B8B-22A272588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56" y="33563"/>
            <a:ext cx="5007429" cy="1325563"/>
          </a:xfrm>
        </p:spPr>
        <p:txBody>
          <a:bodyPr>
            <a:normAutofit/>
          </a:bodyPr>
          <a:lstStyle/>
          <a:p>
            <a:r>
              <a:rPr lang="en-US" sz="2000" b="1" dirty="0"/>
              <a:t>Library</a:t>
            </a:r>
            <a:r>
              <a:rPr lang="en-US" sz="2000" dirty="0"/>
              <a:t>: Small </a:t>
            </a:r>
            <a:r>
              <a:rPr lang="en-US" sz="2000" dirty="0" err="1"/>
              <a:t>AcK</a:t>
            </a:r>
            <a:r>
              <a:rPr lang="en-US" sz="2000" dirty="0"/>
              <a:t> Library </a:t>
            </a:r>
            <a:br>
              <a:rPr lang="en-US" sz="2000" dirty="0"/>
            </a:br>
            <a:r>
              <a:rPr lang="en-US" sz="2000" b="1" dirty="0"/>
              <a:t>Hit</a:t>
            </a:r>
            <a:r>
              <a:rPr lang="en-US" sz="2000" dirty="0"/>
              <a:t>: H3</a:t>
            </a:r>
            <a:br>
              <a:rPr lang="en-US" sz="2000" dirty="0"/>
            </a:br>
            <a:r>
              <a:rPr lang="en-US" sz="2000" b="1" dirty="0"/>
              <a:t>Protein</a:t>
            </a:r>
            <a:r>
              <a:rPr lang="en-US" sz="2000" dirty="0"/>
              <a:t>: sfGFP-150TAG</a:t>
            </a:r>
            <a:br>
              <a:rPr lang="en-US" sz="2000" dirty="0"/>
            </a:br>
            <a:r>
              <a:rPr lang="en-US" sz="2000" b="1" dirty="0"/>
              <a:t>Amino Acid</a:t>
            </a:r>
            <a:r>
              <a:rPr lang="en-US" sz="2000" dirty="0"/>
              <a:t>: </a:t>
            </a:r>
            <a:r>
              <a:rPr lang="en-US" sz="2000" u="sng" dirty="0"/>
              <a:t>Grown +10 mM </a:t>
            </a:r>
            <a:r>
              <a:rPr lang="en-US" sz="2000" u="sng" dirty="0" err="1"/>
              <a:t>Acetyllysine</a:t>
            </a:r>
            <a:r>
              <a:rPr lang="en-US" sz="2000" u="sng" dirty="0"/>
              <a:t>  </a:t>
            </a:r>
            <a:endParaRPr lang="en-US" sz="20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03E584B-DBF2-CAE7-D7D8-C51D44565AFB}"/>
              </a:ext>
            </a:extLst>
          </p:cNvPr>
          <p:cNvSpPr txBox="1">
            <a:spLocks/>
          </p:cNvSpPr>
          <p:nvPr/>
        </p:nvSpPr>
        <p:spPr>
          <a:xfrm>
            <a:off x="5236028" y="161809"/>
            <a:ext cx="6433458" cy="11973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indent="0">
              <a:buNone/>
            </a:pPr>
            <a:r>
              <a:rPr lang="en-US" sz="2000" b="1" dirty="0"/>
              <a:t>Positive Selection Conditions</a:t>
            </a:r>
            <a:r>
              <a:rPr lang="en-US" sz="2000" dirty="0"/>
              <a:t>: +10 mM Propionyl Lysine </a:t>
            </a:r>
          </a:p>
          <a:p>
            <a:pPr marL="0" indent="0">
              <a:buNone/>
            </a:pPr>
            <a:r>
              <a:rPr lang="en-US" sz="2000" b="1" dirty="0"/>
              <a:t>Fluorescent Selection Conditions</a:t>
            </a:r>
            <a:r>
              <a:rPr lang="en-US" sz="2000" dirty="0"/>
              <a:t>: +10 mM Propionyl Lysine </a:t>
            </a:r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52C2E3F-A2CF-1DAE-C9C1-A1CCA29F1D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9527" y="1335508"/>
            <a:ext cx="7132946" cy="535909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D08C866-BE1A-777B-FE9C-A955C120E514}"/>
              </a:ext>
            </a:extLst>
          </p:cNvPr>
          <p:cNvSpPr txBox="1"/>
          <p:nvPr/>
        </p:nvSpPr>
        <p:spPr>
          <a:xfrm>
            <a:off x="108857" y="2917371"/>
            <a:ext cx="31459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27,840.90 – Lysine</a:t>
            </a:r>
          </a:p>
          <a:p>
            <a:endParaRPr lang="en-US" dirty="0"/>
          </a:p>
          <a:p>
            <a:r>
              <a:rPr lang="en-US" dirty="0"/>
              <a:t>27,883.20 – </a:t>
            </a:r>
            <a:r>
              <a:rPr lang="en-US" dirty="0" err="1"/>
              <a:t>Acetyllysine</a:t>
            </a:r>
            <a:r>
              <a:rPr lang="en-US" dirty="0"/>
              <a:t> 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60293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9ACE4-D3AF-BCFA-0361-920571DBE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FC9FD-F301-0BCE-E6C2-4F773ED50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56" y="33563"/>
            <a:ext cx="5007429" cy="1325563"/>
          </a:xfrm>
        </p:spPr>
        <p:txBody>
          <a:bodyPr>
            <a:normAutofit/>
          </a:bodyPr>
          <a:lstStyle/>
          <a:p>
            <a:r>
              <a:rPr lang="en-US" sz="2000" b="1" dirty="0"/>
              <a:t>Library</a:t>
            </a:r>
            <a:r>
              <a:rPr lang="en-US" sz="2000" dirty="0"/>
              <a:t>: Small </a:t>
            </a:r>
            <a:r>
              <a:rPr lang="en-US" sz="2000" dirty="0" err="1"/>
              <a:t>AcK</a:t>
            </a:r>
            <a:r>
              <a:rPr lang="en-US" sz="2000" dirty="0"/>
              <a:t> Library </a:t>
            </a:r>
            <a:br>
              <a:rPr lang="en-US" sz="2000" dirty="0"/>
            </a:br>
            <a:r>
              <a:rPr lang="en-US" sz="2000" b="1" dirty="0"/>
              <a:t>Hit</a:t>
            </a:r>
            <a:r>
              <a:rPr lang="en-US" sz="2000" dirty="0"/>
              <a:t>: H3</a:t>
            </a:r>
            <a:br>
              <a:rPr lang="en-US" sz="2000" dirty="0"/>
            </a:br>
            <a:r>
              <a:rPr lang="en-US" sz="2000" b="1" dirty="0"/>
              <a:t>Protein</a:t>
            </a:r>
            <a:r>
              <a:rPr lang="en-US" sz="2000" dirty="0"/>
              <a:t>: sfGFP-150TAG</a:t>
            </a:r>
            <a:br>
              <a:rPr lang="en-US" sz="2000" dirty="0"/>
            </a:br>
            <a:r>
              <a:rPr lang="en-US" sz="2000" b="1" dirty="0"/>
              <a:t>Amino Acid</a:t>
            </a:r>
            <a:r>
              <a:rPr lang="en-US" sz="2000" dirty="0"/>
              <a:t>: </a:t>
            </a:r>
            <a:r>
              <a:rPr lang="en-US" sz="2000" u="sng" dirty="0"/>
              <a:t>Grown +10 mM Propionyl Lysine   </a:t>
            </a:r>
            <a:endParaRPr lang="en-US" sz="20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546A892-DF32-6D8E-52B7-6F24E7B9A6D7}"/>
              </a:ext>
            </a:extLst>
          </p:cNvPr>
          <p:cNvSpPr txBox="1">
            <a:spLocks/>
          </p:cNvSpPr>
          <p:nvPr/>
        </p:nvSpPr>
        <p:spPr>
          <a:xfrm>
            <a:off x="5236028" y="161809"/>
            <a:ext cx="6433458" cy="11973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indent="0">
              <a:buNone/>
            </a:pPr>
            <a:r>
              <a:rPr lang="en-US" sz="2000" b="1" dirty="0"/>
              <a:t>Positive Selection Conditions</a:t>
            </a:r>
            <a:r>
              <a:rPr lang="en-US" sz="2000" dirty="0"/>
              <a:t>: +10 mM Propionyl Lysine </a:t>
            </a:r>
          </a:p>
          <a:p>
            <a:pPr marL="0" indent="0">
              <a:buNone/>
            </a:pPr>
            <a:r>
              <a:rPr lang="en-US" sz="2000" b="1" dirty="0"/>
              <a:t>Fluorescent Selection Conditions</a:t>
            </a:r>
            <a:r>
              <a:rPr lang="en-US" sz="2000" dirty="0"/>
              <a:t>: +10 mM Propionyl Lysine </a:t>
            </a:r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1DBAABF-E32F-E061-1382-3063AA3F71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2570" y="1359126"/>
            <a:ext cx="7014176" cy="52727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8A29117-17EC-CBAF-7920-1A414D72CDE0}"/>
              </a:ext>
            </a:extLst>
          </p:cNvPr>
          <p:cNvSpPr txBox="1"/>
          <p:nvPr/>
        </p:nvSpPr>
        <p:spPr>
          <a:xfrm>
            <a:off x="108857" y="2917371"/>
            <a:ext cx="31459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27841.50 – Lysine </a:t>
            </a:r>
          </a:p>
          <a:p>
            <a:endParaRPr lang="en-US" dirty="0"/>
          </a:p>
          <a:p>
            <a:r>
              <a:rPr lang="en-US" dirty="0"/>
              <a:t>27,897.80 – Propionyl Lysine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97959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538</Words>
  <Application>Microsoft Office PowerPoint</Application>
  <PresentationFormat>Widescreen</PresentationFormat>
  <Paragraphs>74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Mass Spec Promising Hits from Small Ack Selections </vt:lpstr>
      <vt:lpstr>Promising Hits; Origin of Hits</vt:lpstr>
      <vt:lpstr>Overview of Hits</vt:lpstr>
      <vt:lpstr>Library: Small AcK Library  Hit: E2 Protein: sfGFP-150TAG Amino Acid: Grown +10 mM Acetyllysine</vt:lpstr>
      <vt:lpstr>Library: Small AcK Library  Hit: E2 Protein: sfGFP-150TAG Amino Acid: Grown +1 mM Propionyl Lysine</vt:lpstr>
      <vt:lpstr>Library: Small AcK Library  Hit: E11 Protein: sfGFP-150TAG Amino Acid: Grown +10 mM Acetyllysine</vt:lpstr>
      <vt:lpstr>Library: Small AcK Library  Hit: E11 Protein: sfGFP-150TAG Amino Acid: Grown +1 mM Propionyl Lysine</vt:lpstr>
      <vt:lpstr>Library: Small AcK Library  Hit: C10 Protein: sfGFP-150TAG Amino Acid: Grown +10 mM Acetyllysine  </vt:lpstr>
      <vt:lpstr>Library: Small AcK Library  Hit: C10 Protein: sfGFP-150TAG Amino Acid: Grown +10 mM Propionyl Lysine </vt:lpstr>
      <vt:lpstr>Library: Small AcK Library  Hit: H3 Protein: sfGFP-150TAG Amino Acid: Grown +10 mM Acetyllysine  </vt:lpstr>
      <vt:lpstr>Library: Small AcK Library  Hit: H3 Protein: sfGFP-150TAG Amino Acid: Grown +10 mM Propionyl Lysine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Noonan, Ian</dc:creator>
  <cp:lastModifiedBy>Noonan, Ian</cp:lastModifiedBy>
  <cp:revision>1</cp:revision>
  <dcterms:created xsi:type="dcterms:W3CDTF">2025-03-05T21:26:53Z</dcterms:created>
  <dcterms:modified xsi:type="dcterms:W3CDTF">2025-03-05T23:05:39Z</dcterms:modified>
</cp:coreProperties>
</file>