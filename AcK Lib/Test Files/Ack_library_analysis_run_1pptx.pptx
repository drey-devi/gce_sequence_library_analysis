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80"/>
    <p:restoredTop sz="94687"/>
  </p:normalViewPr>
  <p:slideViewPr>
    <p:cSldViewPr snapToGrid="0">
      <p:cViewPr>
        <p:scale>
          <a:sx n="155" d="100"/>
          <a:sy n="155" d="100"/>
        </p:scale>
        <p:origin x="264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45B42-7DBB-1925-212E-94B0F87CD1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3015EA-F1E1-00A9-3441-AD9A7F6218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E6FFC-EF19-C644-6002-5EACDBA00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DBFC1-32EB-9345-8C40-D3CB27FCE7E4}" type="datetimeFigureOut">
              <a:rPr lang="en-US" smtClean="0"/>
              <a:t>4/30/25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F818AE-A8AA-DC4A-890A-C95546954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35C97D-AF1D-ECC2-D32A-642D967DD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C761-3E9B-EC47-815F-078FB6784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993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0D4F0-861E-5EC2-3208-6FBC678C6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3DAB9-3CC9-32A0-BD35-9FB2337FF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504CA-08E7-741F-1187-48F6E8A81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DBFC1-32EB-9345-8C40-D3CB27FCE7E4}" type="datetimeFigureOut">
              <a:rPr lang="en-US" smtClean="0"/>
              <a:t>4/30/25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F56461-B931-F9E5-2B8E-5F2F2818E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3F0CD-E8B8-B555-A018-19D0EC6C1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C761-3E9B-EC47-815F-078FB6784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636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F84AC-5657-E721-4D2E-4F78C2FE5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EEADC4-2926-3622-7108-5B80281E55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FE485-F361-5579-34DB-595708111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DBFC1-32EB-9345-8C40-D3CB27FCE7E4}" type="datetimeFigureOut">
              <a:rPr lang="en-US" smtClean="0"/>
              <a:t>4/30/25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C5E998-0902-CD9D-C57A-D68B155C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CCB8C4-7051-0C17-875E-E2485E784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C761-3E9B-EC47-815F-078FB6784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780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966AA-97D6-668D-F852-1F6C6E464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0DB5D-8C71-39BF-C268-5C6A4AA20D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EAFCF9-206C-2304-DC13-9D13EBE77F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5A89D9-0E0C-13D3-9513-E72A7AAE0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DBFC1-32EB-9345-8C40-D3CB27FCE7E4}" type="datetimeFigureOut">
              <a:rPr lang="en-US" smtClean="0"/>
              <a:t>4/30/25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A94205-8154-D34A-207E-83255E058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2D9C4-2B78-D933-E09A-4C2B545C0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C761-3E9B-EC47-815F-078FB6784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111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92CA4-4B18-9E3E-D580-AF1A0429A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C14423-060A-CA84-7055-5C8225314C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72E745-BFEB-F332-4169-BF1E727B5C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2DD61D-E547-96EF-5942-FC6C5E4230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7E0407-C97F-A1DA-9BCE-74F152E0DE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75CDC6-1377-E7D4-5A70-95A42912E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DBFC1-32EB-9345-8C40-D3CB27FCE7E4}" type="datetimeFigureOut">
              <a:rPr lang="en-US" smtClean="0"/>
              <a:t>4/30/25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8456DA-0767-A9DF-A506-6E3BF28CA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1CA709-08AE-1D18-6446-ADEE2D160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C761-3E9B-EC47-815F-078FB6784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275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F828C-10BB-9957-B9AC-05773C1B7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3E9463-AC80-8785-0E34-387E193FD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DBFC1-32EB-9345-8C40-D3CB27FCE7E4}" type="datetimeFigureOut">
              <a:rPr lang="en-US" smtClean="0"/>
              <a:t>4/30/25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BF3484-5EB9-52C8-5BF0-5BC3C8208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03A69D-DB50-5AFA-3A34-CF7C0922A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C761-3E9B-EC47-815F-078FB6784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258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F2A592-BA35-3E13-71EE-7F3D69496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DBFC1-32EB-9345-8C40-D3CB27FCE7E4}" type="datetimeFigureOut">
              <a:rPr lang="en-US" smtClean="0"/>
              <a:t>4/30/25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3592F4-E830-DE8B-1D78-AAAE664B8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038B08-F14D-A621-648C-185BB41A6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C761-3E9B-EC47-815F-078FB6784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215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21F09-4883-0E00-32B4-5C035BF62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8C19B-E4E2-3B61-97DA-4C7ED6991B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E8FB8F-B282-55C7-BD48-1115234174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781316-BA68-6279-29FC-0849EAF10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DBFC1-32EB-9345-8C40-D3CB27FCE7E4}" type="datetimeFigureOut">
              <a:rPr lang="en-US" smtClean="0"/>
              <a:t>4/30/25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E81C13-B90B-D5DC-F6CE-A720A8C74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F3E377-3943-9F2D-B723-4A613CBE3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C761-3E9B-EC47-815F-078FB6784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961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C82AB-B43D-FF39-4BFA-1D9FEE794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2A4AAC-D88A-CE72-14CC-465257313F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1C7601-969D-C7D2-31BD-CA0CEB33C0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3B9A3C-EDA3-C339-B936-1AF70AB0D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DBFC1-32EB-9345-8C40-D3CB27FCE7E4}" type="datetimeFigureOut">
              <a:rPr lang="en-US" smtClean="0"/>
              <a:t>4/30/25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12C638-525C-1F39-17F2-CF44EA2D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FA292B-8A70-0300-AF8D-0EFE0A6CB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C761-3E9B-EC47-815F-078FB6784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067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41C4B-FE99-968F-DE0D-AC3C0BBE0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B07700-6958-FEF5-05C0-53384B70A8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CF8AE1-B006-52AD-ADB9-3403A5684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DBFC1-32EB-9345-8C40-D3CB27FCE7E4}" type="datetimeFigureOut">
              <a:rPr lang="en-US" smtClean="0"/>
              <a:t>4/30/25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0CCC80-8997-1E84-DF28-0811A7001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E3997-8427-2A07-B85C-EC59AC0C7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C761-3E9B-EC47-815F-078FB6784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182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68E741-F723-245D-4CAA-78F71E737D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C845AD-2B2B-F048-C75C-DB731BC009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413AA-7ACA-3FC1-C86F-56EC4F341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DBFC1-32EB-9345-8C40-D3CB27FCE7E4}" type="datetimeFigureOut">
              <a:rPr lang="en-US" smtClean="0"/>
              <a:t>4/30/25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A9F7F-3C60-8CA0-88F5-23D63CF73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164423-EC03-4549-2C87-B4208A2DE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C761-3E9B-EC47-815F-078FB6784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080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25AE02-E26A-03F3-983C-CCB4B1DE1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3D3D24-93F1-4233-69E4-4F8E357DE4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5ED75-F09D-A4E1-3EF7-BF44340919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3DBFC1-32EB-9345-8C40-D3CB27FCE7E4}" type="datetimeFigureOut">
              <a:rPr lang="en-US" smtClean="0"/>
              <a:t>4/30/25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F5FD4D-1152-354D-320E-807FF2F106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BB911A-0EC7-C71D-2F7B-19BCEC6E3A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E8C761-3E9B-EC47-815F-078FB6784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992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C9DC00C-6724-5B8A-2976-9A9BAD50D97C}"/>
              </a:ext>
            </a:extLst>
          </p:cNvPr>
          <p:cNvSpPr txBox="1"/>
          <p:nvPr/>
        </p:nvSpPr>
        <p:spPr>
          <a:xfrm>
            <a:off x="100843" y="194567"/>
            <a:ext cx="80032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>
                <a:latin typeface="Georgia Pro Light" panose="020F0302020204030204" pitchFamily="34" charset="0"/>
                <a:cs typeface="Georgia Pro Light" panose="020F0302020204030204" pitchFamily="34" charset="0"/>
              </a:rPr>
              <a:t>AcK</a:t>
            </a:r>
            <a:r>
              <a:rPr lang="en-US" sz="3600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Library Analysis with Script_V1</a:t>
            </a:r>
          </a:p>
          <a:p>
            <a:endParaRPr lang="en-US" sz="3600" dirty="0">
              <a:latin typeface="Georgia Pro Light" panose="020F0302020204030204" pitchFamily="34" charset="0"/>
              <a:cs typeface="Georgia Pro Light" panose="020F0302020204030204" pitchFamily="34" charset="0"/>
            </a:endParaRPr>
          </a:p>
        </p:txBody>
      </p:sp>
      <p:pic>
        <p:nvPicPr>
          <p:cNvPr id="6" name="Picture 5" descr="A graph of blue bars&#10;&#10;AI-generated content may be incorrect.">
            <a:extLst>
              <a:ext uri="{FF2B5EF4-FFF2-40B4-BE49-F238E27FC236}">
                <a16:creationId xmlns:a16="http://schemas.microsoft.com/office/drawing/2014/main" id="{BD7D3ED4-0296-223F-A16B-29FD7A98E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502" y="1928749"/>
            <a:ext cx="5486400" cy="3657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3EAEE9D-2527-3AB0-EF70-640F6C1DD0F4}"/>
              </a:ext>
            </a:extLst>
          </p:cNvPr>
          <p:cNvSpPr txBox="1"/>
          <p:nvPr/>
        </p:nvSpPr>
        <p:spPr>
          <a:xfrm>
            <a:off x="331502" y="1589194"/>
            <a:ext cx="4955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Top 5 full proteins from the new script: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EEC22F-9881-9E36-8B83-C09F10BAD780}"/>
              </a:ext>
            </a:extLst>
          </p:cNvPr>
          <p:cNvSpPr txBox="1"/>
          <p:nvPr/>
        </p:nvSpPr>
        <p:spPr>
          <a:xfrm>
            <a:off x="6784009" y="1589194"/>
            <a:ext cx="4955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Top 5 full proteins from Ricks Analysis: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36E4229-7FC5-830A-737A-7824DFD6F8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8651104"/>
              </p:ext>
            </p:extLst>
          </p:nvPr>
        </p:nvGraphicFramePr>
        <p:xfrm>
          <a:off x="7277100" y="2252661"/>
          <a:ext cx="4090306" cy="2352678"/>
        </p:xfrm>
        <a:graphic>
          <a:graphicData uri="http://schemas.openxmlformats.org/drawingml/2006/table">
            <a:tbl>
              <a:tblPr/>
              <a:tblGrid>
                <a:gridCol w="2045153">
                  <a:extLst>
                    <a:ext uri="{9D8B030D-6E8A-4147-A177-3AD203B41FA5}">
                      <a16:colId xmlns:a16="http://schemas.microsoft.com/office/drawing/2014/main" val="1280520219"/>
                    </a:ext>
                  </a:extLst>
                </a:gridCol>
                <a:gridCol w="2045153">
                  <a:extLst>
                    <a:ext uri="{9D8B030D-6E8A-4147-A177-3AD203B41FA5}">
                      <a16:colId xmlns:a16="http://schemas.microsoft.com/office/drawing/2014/main" val="3131030369"/>
                    </a:ext>
                  </a:extLst>
                </a:gridCol>
              </a:tblGrid>
              <a:tr h="39211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Full Sequence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Frequency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4632006"/>
                  </a:ext>
                </a:extLst>
              </a:tr>
              <a:tr h="39211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LLFMFWC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844331"/>
                  </a:ext>
                </a:extLst>
              </a:tr>
              <a:tr h="39211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LIFAFWC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7748932"/>
                  </a:ext>
                </a:extLst>
              </a:tr>
              <a:tr h="39211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LIFAFWA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4702504"/>
                  </a:ext>
                </a:extLst>
              </a:tr>
              <a:tr h="39211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LLYAFWC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3254394"/>
                  </a:ext>
                </a:extLst>
              </a:tr>
              <a:tr h="39211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LLYAVYV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159963"/>
                  </a:ext>
                </a:extLst>
              </a:tr>
            </a:tbl>
          </a:graphicData>
        </a:graphic>
      </p:graphicFrame>
      <p:sp>
        <p:nvSpPr>
          <p:cNvPr id="11" name="5-Point Star 10">
            <a:extLst>
              <a:ext uri="{FF2B5EF4-FFF2-40B4-BE49-F238E27FC236}">
                <a16:creationId xmlns:a16="http://schemas.microsoft.com/office/drawing/2014/main" id="{34FF4F5F-8047-6036-7560-A6B67F894018}"/>
              </a:ext>
            </a:extLst>
          </p:cNvPr>
          <p:cNvSpPr/>
          <p:nvPr/>
        </p:nvSpPr>
        <p:spPr>
          <a:xfrm>
            <a:off x="579664" y="5568653"/>
            <a:ext cx="351065" cy="310243"/>
          </a:xfrm>
          <a:prstGeom prst="star5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240F7F-7B3A-660E-64BE-AFF422955C3C}"/>
              </a:ext>
            </a:extLst>
          </p:cNvPr>
          <p:cNvSpPr txBox="1"/>
          <p:nvPr/>
        </p:nvSpPr>
        <p:spPr>
          <a:xfrm>
            <a:off x="1134836" y="5458333"/>
            <a:ext cx="107965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The increased number (depth) could be due to the more extensive Muscle5 alignment along with</a:t>
            </a:r>
          </a:p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keeping all the sequences and marking their </a:t>
            </a:r>
            <a:r>
              <a:rPr lang="en-US" dirty="0" err="1">
                <a:latin typeface="Georgia Pro Light" panose="020F0302020204030204" pitchFamily="34" charset="0"/>
                <a:cs typeface="Georgia Pro Light" panose="020F0302020204030204" pitchFamily="34" charset="0"/>
              </a:rPr>
              <a:t>phred</a:t>
            </a:r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qualities rather than throwing out lower </a:t>
            </a:r>
            <a:r>
              <a:rPr lang="en-US">
                <a:latin typeface="Georgia Pro Light" panose="020F0302020204030204" pitchFamily="34" charset="0"/>
                <a:cs typeface="Georgia Pro Light" panose="020F0302020204030204" pitchFamily="34" charset="0"/>
              </a:rPr>
              <a:t>quality sequences</a:t>
            </a:r>
            <a:endParaRPr lang="en-US" dirty="0">
              <a:latin typeface="Georgia Pro Light" panose="020F0302020204030204" pitchFamily="34" charset="0"/>
              <a:cs typeface="Georgia Pro Light" panose="020F03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2001EF-F680-94A3-C400-8A0137E9474E}"/>
              </a:ext>
            </a:extLst>
          </p:cNvPr>
          <p:cNvSpPr txBox="1"/>
          <p:nvPr/>
        </p:nvSpPr>
        <p:spPr>
          <a:xfrm>
            <a:off x="7140770" y="6177733"/>
            <a:ext cx="45259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Ricks Analysis done on X5DWGR_1_SAL_pBK_AcK_post__POS_SEL.fastq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47EF08-8499-A153-DA3D-77427140D588}"/>
              </a:ext>
            </a:extLst>
          </p:cNvPr>
          <p:cNvSpPr txBox="1"/>
          <p:nvPr/>
        </p:nvSpPr>
        <p:spPr>
          <a:xfrm>
            <a:off x="930729" y="6177733"/>
            <a:ext cx="47096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New Script Analysis done on </a:t>
            </a:r>
          </a:p>
          <a:p>
            <a:r>
              <a:rPr lang="en-US" sz="1400" b="1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X5DWGR #1 SAL </a:t>
            </a:r>
            <a:r>
              <a:rPr lang="en-US" sz="1400" b="1" dirty="0" err="1">
                <a:latin typeface="Georgia Pro Light" panose="020F0302020204030204" pitchFamily="34" charset="0"/>
                <a:cs typeface="Georgia Pro Light" panose="020F0302020204030204" pitchFamily="34" charset="0"/>
              </a:rPr>
              <a:t>pBK_Post</a:t>
            </a:r>
            <a:r>
              <a:rPr lang="en-US" sz="1400" b="1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POS SEL 10 mM </a:t>
            </a:r>
            <a:r>
              <a:rPr lang="en-US" sz="1400" b="1" dirty="0" err="1">
                <a:latin typeface="Georgia Pro Light" panose="020F0302020204030204" pitchFamily="34" charset="0"/>
                <a:cs typeface="Georgia Pro Light" panose="020F0302020204030204" pitchFamily="34" charset="0"/>
              </a:rPr>
              <a:t>AcK.fastq</a:t>
            </a:r>
            <a:endParaRPr lang="en-US" sz="1400" b="1" dirty="0">
              <a:latin typeface="Georgia Pro Light" panose="020F0302020204030204" pitchFamily="34" charset="0"/>
              <a:cs typeface="Georgia Pro Light" panose="020F0302020204030204" pitchFamily="34" charset="0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AF7304B6-1F85-7223-3E1F-B6C9DEDEE1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1189171"/>
              </p:ext>
            </p:extLst>
          </p:nvPr>
        </p:nvGraphicFramePr>
        <p:xfrm>
          <a:off x="3279874" y="1119088"/>
          <a:ext cx="8508998" cy="381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07296">
                  <a:extLst>
                    <a:ext uri="{9D8B030D-6E8A-4147-A177-3AD203B41FA5}">
                      <a16:colId xmlns:a16="http://schemas.microsoft.com/office/drawing/2014/main" val="3276502847"/>
                    </a:ext>
                  </a:extLst>
                </a:gridCol>
                <a:gridCol w="1153118">
                  <a:extLst>
                    <a:ext uri="{9D8B030D-6E8A-4147-A177-3AD203B41FA5}">
                      <a16:colId xmlns:a16="http://schemas.microsoft.com/office/drawing/2014/main" val="2603583079"/>
                    </a:ext>
                  </a:extLst>
                </a:gridCol>
                <a:gridCol w="674764">
                  <a:extLst>
                    <a:ext uri="{9D8B030D-6E8A-4147-A177-3AD203B41FA5}">
                      <a16:colId xmlns:a16="http://schemas.microsoft.com/office/drawing/2014/main" val="1318321011"/>
                    </a:ext>
                  </a:extLst>
                </a:gridCol>
                <a:gridCol w="674764">
                  <a:extLst>
                    <a:ext uri="{9D8B030D-6E8A-4147-A177-3AD203B41FA5}">
                      <a16:colId xmlns:a16="http://schemas.microsoft.com/office/drawing/2014/main" val="3986893347"/>
                    </a:ext>
                  </a:extLst>
                </a:gridCol>
                <a:gridCol w="674764">
                  <a:extLst>
                    <a:ext uri="{9D8B030D-6E8A-4147-A177-3AD203B41FA5}">
                      <a16:colId xmlns:a16="http://schemas.microsoft.com/office/drawing/2014/main" val="1148280858"/>
                    </a:ext>
                  </a:extLst>
                </a:gridCol>
                <a:gridCol w="674764">
                  <a:extLst>
                    <a:ext uri="{9D8B030D-6E8A-4147-A177-3AD203B41FA5}">
                      <a16:colId xmlns:a16="http://schemas.microsoft.com/office/drawing/2014/main" val="64108059"/>
                    </a:ext>
                  </a:extLst>
                </a:gridCol>
                <a:gridCol w="674764">
                  <a:extLst>
                    <a:ext uri="{9D8B030D-6E8A-4147-A177-3AD203B41FA5}">
                      <a16:colId xmlns:a16="http://schemas.microsoft.com/office/drawing/2014/main" val="334367271"/>
                    </a:ext>
                  </a:extLst>
                </a:gridCol>
                <a:gridCol w="674764">
                  <a:extLst>
                    <a:ext uri="{9D8B030D-6E8A-4147-A177-3AD203B41FA5}">
                      <a16:colId xmlns:a16="http://schemas.microsoft.com/office/drawing/2014/main" val="2772760488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121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125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126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129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168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206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223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6096927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pBK Ma Pyl RS WT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V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76092063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07625BB9-CA0A-4C96-E7A9-A8928EE97941}"/>
              </a:ext>
            </a:extLst>
          </p:cNvPr>
          <p:cNvSpPr txBox="1"/>
          <p:nvPr/>
        </p:nvSpPr>
        <p:spPr>
          <a:xfrm>
            <a:off x="331502" y="1132920"/>
            <a:ext cx="1966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Reference:</a:t>
            </a:r>
          </a:p>
        </p:txBody>
      </p:sp>
    </p:spTree>
    <p:extLst>
      <p:ext uri="{BB962C8B-B14F-4D97-AF65-F5344CB8AC3E}">
        <p14:creationId xmlns:p14="http://schemas.microsoft.com/office/powerpoint/2010/main" val="3722879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blue rectangular bars&#10;&#10;AI-generated content may be incorrect.">
            <a:extLst>
              <a:ext uri="{FF2B5EF4-FFF2-40B4-BE49-F238E27FC236}">
                <a16:creationId xmlns:a16="http://schemas.microsoft.com/office/drawing/2014/main" id="{D11442E2-7206-3058-CD78-4D1B018E0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0136" y="2393920"/>
            <a:ext cx="2804160" cy="2103120"/>
          </a:xfrm>
          <a:prstGeom prst="rect">
            <a:avLst/>
          </a:prstGeom>
        </p:spPr>
      </p:pic>
      <p:pic>
        <p:nvPicPr>
          <p:cNvPr id="7" name="Picture 6" descr="A graph with blue bars&#10;&#10;AI-generated content may be incorrect.">
            <a:extLst>
              <a:ext uri="{FF2B5EF4-FFF2-40B4-BE49-F238E27FC236}">
                <a16:creationId xmlns:a16="http://schemas.microsoft.com/office/drawing/2014/main" id="{E8606D49-4A69-81AB-A20C-09E0CE7CC3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54" y="272145"/>
            <a:ext cx="2804160" cy="2103120"/>
          </a:xfrm>
          <a:prstGeom prst="rect">
            <a:avLst/>
          </a:prstGeom>
        </p:spPr>
      </p:pic>
      <p:pic>
        <p:nvPicPr>
          <p:cNvPr id="9" name="Picture 8" descr="A graph of blue rectangular bars&#10;&#10;AI-generated content may be incorrect.">
            <a:extLst>
              <a:ext uri="{FF2B5EF4-FFF2-40B4-BE49-F238E27FC236}">
                <a16:creationId xmlns:a16="http://schemas.microsoft.com/office/drawing/2014/main" id="{78603CB5-DB74-ADE9-83C4-8A70E88047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7995" y="337459"/>
            <a:ext cx="2804160" cy="2103120"/>
          </a:xfrm>
          <a:prstGeom prst="rect">
            <a:avLst/>
          </a:prstGeom>
        </p:spPr>
      </p:pic>
      <p:pic>
        <p:nvPicPr>
          <p:cNvPr id="11" name="Picture 10" descr="A graph of blue rectangular bars&#10;&#10;AI-generated content may be incorrect.">
            <a:extLst>
              <a:ext uri="{FF2B5EF4-FFF2-40B4-BE49-F238E27FC236}">
                <a16:creationId xmlns:a16="http://schemas.microsoft.com/office/drawing/2014/main" id="{7FA9EDE0-6CDF-D31C-8066-D13801E1D3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7995" y="2381251"/>
            <a:ext cx="2804160" cy="2103120"/>
          </a:xfrm>
          <a:prstGeom prst="rect">
            <a:avLst/>
          </a:prstGeom>
        </p:spPr>
      </p:pic>
      <p:pic>
        <p:nvPicPr>
          <p:cNvPr id="13" name="Picture 12" descr="A graph with blue rectangular bars&#10;&#10;AI-generated content may be incorrect.">
            <a:extLst>
              <a:ext uri="{FF2B5EF4-FFF2-40B4-BE49-F238E27FC236}">
                <a16:creationId xmlns:a16="http://schemas.microsoft.com/office/drawing/2014/main" id="{E18C8031-14F1-A2AE-A01D-3EF20A9814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854" y="2315937"/>
            <a:ext cx="2804160" cy="2103120"/>
          </a:xfrm>
          <a:prstGeom prst="rect">
            <a:avLst/>
          </a:prstGeom>
        </p:spPr>
      </p:pic>
      <p:pic>
        <p:nvPicPr>
          <p:cNvPr id="15" name="Picture 14" descr="A graph of a bar&#10;&#10;AI-generated content may be incorrect.">
            <a:extLst>
              <a:ext uri="{FF2B5EF4-FFF2-40B4-BE49-F238E27FC236}">
                <a16:creationId xmlns:a16="http://schemas.microsoft.com/office/drawing/2014/main" id="{9EBD53EC-35C7-7492-CAAC-C4C812F487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27996" y="4425043"/>
            <a:ext cx="2804160" cy="2103120"/>
          </a:xfrm>
          <a:prstGeom prst="rect">
            <a:avLst/>
          </a:prstGeom>
        </p:spPr>
      </p:pic>
      <p:pic>
        <p:nvPicPr>
          <p:cNvPr id="17" name="Picture 16" descr="A graph of blue rectangular bars&#10;&#10;AI-generated content may be incorrect.">
            <a:extLst>
              <a:ext uri="{FF2B5EF4-FFF2-40B4-BE49-F238E27FC236}">
                <a16:creationId xmlns:a16="http://schemas.microsoft.com/office/drawing/2014/main" id="{E666E910-483F-BF91-DB46-638847941BE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854" y="4359729"/>
            <a:ext cx="2804160" cy="210312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47257C5-8745-2981-BC0C-92206DE86A1E}"/>
              </a:ext>
            </a:extLst>
          </p:cNvPr>
          <p:cNvSpPr txBox="1"/>
          <p:nvPr/>
        </p:nvSpPr>
        <p:spPr>
          <a:xfrm>
            <a:off x="5972433" y="394691"/>
            <a:ext cx="36246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The Top 5 most occurring Amio Acids per site: 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01D5C843-53B1-2EA2-19D9-AE06212B22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4088042"/>
              </p:ext>
            </p:extLst>
          </p:nvPr>
        </p:nvGraphicFramePr>
        <p:xfrm>
          <a:off x="5972433" y="1714629"/>
          <a:ext cx="5808196" cy="381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57544">
                  <a:extLst>
                    <a:ext uri="{9D8B030D-6E8A-4147-A177-3AD203B41FA5}">
                      <a16:colId xmlns:a16="http://schemas.microsoft.com/office/drawing/2014/main" val="3276502847"/>
                    </a:ext>
                  </a:extLst>
                </a:gridCol>
                <a:gridCol w="787112">
                  <a:extLst>
                    <a:ext uri="{9D8B030D-6E8A-4147-A177-3AD203B41FA5}">
                      <a16:colId xmlns:a16="http://schemas.microsoft.com/office/drawing/2014/main" val="2603583079"/>
                    </a:ext>
                  </a:extLst>
                </a:gridCol>
                <a:gridCol w="460590">
                  <a:extLst>
                    <a:ext uri="{9D8B030D-6E8A-4147-A177-3AD203B41FA5}">
                      <a16:colId xmlns:a16="http://schemas.microsoft.com/office/drawing/2014/main" val="1318321011"/>
                    </a:ext>
                  </a:extLst>
                </a:gridCol>
                <a:gridCol w="460590">
                  <a:extLst>
                    <a:ext uri="{9D8B030D-6E8A-4147-A177-3AD203B41FA5}">
                      <a16:colId xmlns:a16="http://schemas.microsoft.com/office/drawing/2014/main" val="3986893347"/>
                    </a:ext>
                  </a:extLst>
                </a:gridCol>
                <a:gridCol w="460590">
                  <a:extLst>
                    <a:ext uri="{9D8B030D-6E8A-4147-A177-3AD203B41FA5}">
                      <a16:colId xmlns:a16="http://schemas.microsoft.com/office/drawing/2014/main" val="1148280858"/>
                    </a:ext>
                  </a:extLst>
                </a:gridCol>
                <a:gridCol w="460590">
                  <a:extLst>
                    <a:ext uri="{9D8B030D-6E8A-4147-A177-3AD203B41FA5}">
                      <a16:colId xmlns:a16="http://schemas.microsoft.com/office/drawing/2014/main" val="64108059"/>
                    </a:ext>
                  </a:extLst>
                </a:gridCol>
                <a:gridCol w="460590">
                  <a:extLst>
                    <a:ext uri="{9D8B030D-6E8A-4147-A177-3AD203B41FA5}">
                      <a16:colId xmlns:a16="http://schemas.microsoft.com/office/drawing/2014/main" val="334367271"/>
                    </a:ext>
                  </a:extLst>
                </a:gridCol>
                <a:gridCol w="460590">
                  <a:extLst>
                    <a:ext uri="{9D8B030D-6E8A-4147-A177-3AD203B41FA5}">
                      <a16:colId xmlns:a16="http://schemas.microsoft.com/office/drawing/2014/main" val="2772760488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121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125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126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129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168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206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223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6096927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pBK Ma Pyl RS WT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V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76092063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53F0CEB1-1863-4868-7F11-DBE9C04A8FA5}"/>
              </a:ext>
            </a:extLst>
          </p:cNvPr>
          <p:cNvSpPr txBox="1"/>
          <p:nvPr/>
        </p:nvSpPr>
        <p:spPr>
          <a:xfrm>
            <a:off x="5972433" y="1323705"/>
            <a:ext cx="1342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Reference</a:t>
            </a:r>
            <a:r>
              <a:rPr lang="en-US" dirty="0"/>
              <a:t>: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B34F0D3-AAF1-D4FF-5D4E-CDC81058A67F}"/>
              </a:ext>
            </a:extLst>
          </p:cNvPr>
          <p:cNvSpPr txBox="1"/>
          <p:nvPr/>
        </p:nvSpPr>
        <p:spPr>
          <a:xfrm>
            <a:off x="6459846" y="4599440"/>
            <a:ext cx="361641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Shows a High amount of variance at sites 129,121 and 223. </a:t>
            </a:r>
          </a:p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While Sites 126 and 168 are fairly variants.</a:t>
            </a:r>
          </a:p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Sites 125 and 206 are dominated by two distinct amino acids</a:t>
            </a:r>
          </a:p>
        </p:txBody>
      </p:sp>
    </p:spTree>
    <p:extLst>
      <p:ext uri="{BB962C8B-B14F-4D97-AF65-F5344CB8AC3E}">
        <p14:creationId xmlns:p14="http://schemas.microsoft.com/office/powerpoint/2010/main" val="1958481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aph of blue rectangular shapes&#10;&#10;AI-generated content may be incorrect.">
            <a:extLst>
              <a:ext uri="{FF2B5EF4-FFF2-40B4-BE49-F238E27FC236}">
                <a16:creationId xmlns:a16="http://schemas.microsoft.com/office/drawing/2014/main" id="{8D9DC2F0-E792-3C73-02E1-CD9CB1038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23" y="1451918"/>
            <a:ext cx="7096898" cy="354844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5E6403C-E9B9-0233-C026-7FAF7ED52C43}"/>
              </a:ext>
            </a:extLst>
          </p:cNvPr>
          <p:cNvSpPr txBox="1"/>
          <p:nvPr/>
        </p:nvSpPr>
        <p:spPr>
          <a:xfrm>
            <a:off x="172995" y="805587"/>
            <a:ext cx="48520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The Top 5 most occurring full-proteins compared for their Phred scores: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D88A35-7022-B217-96D8-AD50FEA7FC1B}"/>
              </a:ext>
            </a:extLst>
          </p:cNvPr>
          <p:cNvSpPr txBox="1"/>
          <p:nvPr/>
        </p:nvSpPr>
        <p:spPr>
          <a:xfrm>
            <a:off x="7381103" y="1584047"/>
            <a:ext cx="336927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This analysis is only comparing the </a:t>
            </a:r>
            <a:r>
              <a:rPr lang="en-US" dirty="0" err="1">
                <a:latin typeface="Georgia Pro Light" panose="020F0302020204030204" pitchFamily="34" charset="0"/>
                <a:cs typeface="Georgia Pro Light" panose="020F0302020204030204" pitchFamily="34" charset="0"/>
              </a:rPr>
              <a:t>phred</a:t>
            </a:r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scores of the sequences that had all their sites present in the sequencing data. This </a:t>
            </a:r>
            <a:r>
              <a:rPr lang="en-US" dirty="0" err="1">
                <a:latin typeface="Georgia Pro Light" panose="020F0302020204030204" pitchFamily="34" charset="0"/>
                <a:cs typeface="Georgia Pro Light" panose="020F0302020204030204" pitchFamily="34" charset="0"/>
              </a:rPr>
              <a:t>baisis</a:t>
            </a:r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since the sequences that have all their sites are also likely to have a high PHRED score. </a:t>
            </a:r>
          </a:p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Regardless, it informs that the there aren’t any full-proteins with low </a:t>
            </a:r>
            <a:r>
              <a:rPr lang="en-US" dirty="0" err="1">
                <a:latin typeface="Georgia Pro Light" panose="020F0302020204030204" pitchFamily="34" charset="0"/>
                <a:cs typeface="Georgia Pro Light" panose="020F0302020204030204" pitchFamily="34" charset="0"/>
              </a:rPr>
              <a:t>phred</a:t>
            </a:r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score in the top 5 . </a:t>
            </a:r>
          </a:p>
        </p:txBody>
      </p:sp>
    </p:spTree>
    <p:extLst>
      <p:ext uri="{BB962C8B-B14F-4D97-AF65-F5344CB8AC3E}">
        <p14:creationId xmlns:p14="http://schemas.microsoft.com/office/powerpoint/2010/main" val="1773053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267</Words>
  <Application>Microsoft Macintosh PowerPoint</Application>
  <PresentationFormat>Widescreen</PresentationFormat>
  <Paragraphs>59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Aptos</vt:lpstr>
      <vt:lpstr>Aptos Display</vt:lpstr>
      <vt:lpstr>Aptos Narrow</vt:lpstr>
      <vt:lpstr>Arial</vt:lpstr>
      <vt:lpstr>Calibri</vt:lpstr>
      <vt:lpstr>Georgia Pro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Divyansh .</dc:creator>
  <cp:lastModifiedBy>Divyansh .</cp:lastModifiedBy>
  <cp:revision>4</cp:revision>
  <dcterms:created xsi:type="dcterms:W3CDTF">2025-04-30T22:50:21Z</dcterms:created>
  <dcterms:modified xsi:type="dcterms:W3CDTF">2025-04-30T23:34:32Z</dcterms:modified>
</cp:coreProperties>
</file>