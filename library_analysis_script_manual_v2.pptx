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4"/>
  </p:sldMasterIdLst>
  <p:sldIdLst>
    <p:sldId id="256" r:id="rId5"/>
    <p:sldId id="258" r:id="rId6"/>
    <p:sldId id="259" r:id="rId7"/>
    <p:sldId id="267" r:id="rId8"/>
    <p:sldId id="260" r:id="rId9"/>
    <p:sldId id="261" r:id="rId10"/>
    <p:sldId id="257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8" autoAdjust="0"/>
    <p:restoredTop sz="94687"/>
  </p:normalViewPr>
  <p:slideViewPr>
    <p:cSldViewPr snapToGrid="0">
      <p:cViewPr varScale="1">
        <p:scale>
          <a:sx n="160" d="100"/>
          <a:sy n="160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51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4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932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8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3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6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5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80C50CD-E178-4744-9B35-B2F624D6C5E9}" type="datetimeFigureOut">
              <a:rPr lang="en-US" smtClean="0"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4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4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5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96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21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7BFCD2-E6E4-39A8-0236-82F670992FE8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Library Analysis Script Working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7BF26-D476-4B26-7D66-CA0FA99020FA}"/>
              </a:ext>
            </a:extLst>
          </p:cNvPr>
          <p:cNvSpPr txBox="1"/>
          <p:nvPr/>
        </p:nvSpPr>
        <p:spPr>
          <a:xfrm>
            <a:off x="2930872" y="2387822"/>
            <a:ext cx="49114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Pathway used by the 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The different analysis methods of the script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The output of each method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Packages Used in the Script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Use of each Package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Georgia Pro Light" panose="02040302050405020303" pitchFamily="18" charset="0"/>
              </a:rPr>
              <a:t>The explanation of graphs outputted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9FC0-3644-F90C-34C4-7969FF325E46}"/>
              </a:ext>
            </a:extLst>
          </p:cNvPr>
          <p:cNvSpPr txBox="1"/>
          <p:nvPr/>
        </p:nvSpPr>
        <p:spPr>
          <a:xfrm>
            <a:off x="1659097" y="1755423"/>
            <a:ext cx="2112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Georgia Pro Light" panose="02040302050405020303" pitchFamily="18" charset="0"/>
              </a:rPr>
              <a:t>Contents</a:t>
            </a:r>
            <a:r>
              <a:rPr lang="en-US" dirty="0">
                <a:latin typeface="Georgia Pro Light" panose="02040302050405020303" pitchFamily="18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0863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6269AE-B210-2804-41EC-B6D0D27E642A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Pathway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61FA2-52E9-365D-56DB-016FEFC378C7}"/>
              </a:ext>
            </a:extLst>
          </p:cNvPr>
          <p:cNvSpPr txBox="1"/>
          <p:nvPr/>
        </p:nvSpPr>
        <p:spPr>
          <a:xfrm>
            <a:off x="770652" y="1584689"/>
            <a:ext cx="24317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40302050405020303" pitchFamily="18" charset="0"/>
              </a:rPr>
              <a:t>Input Files: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Reference File (</a:t>
            </a:r>
            <a:r>
              <a:rPr lang="en-US" dirty="0" err="1">
                <a:latin typeface="Georgia Pro Light" panose="02040302050405020303" pitchFamily="18" charset="0"/>
              </a:rPr>
              <a:t>Fasta</a:t>
            </a:r>
            <a:r>
              <a:rPr lang="en-US" dirty="0">
                <a:latin typeface="Georgia Pro Light" panose="02040302050405020303" pitchFamily="18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Library Sequencing data (</a:t>
            </a:r>
            <a:r>
              <a:rPr lang="en-US" dirty="0" err="1">
                <a:latin typeface="Georgia Pro Light" panose="02040302050405020303" pitchFamily="18" charset="0"/>
              </a:rPr>
              <a:t>Fastq</a:t>
            </a:r>
            <a:r>
              <a:rPr lang="en-US" dirty="0">
                <a:latin typeface="Georgia Pro Light" panose="02040302050405020303" pitchFamily="18" charset="0"/>
              </a:rPr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CC70B-97DA-DBAF-EF9D-E352470692F3}"/>
              </a:ext>
            </a:extLst>
          </p:cNvPr>
          <p:cNvSpPr txBox="1"/>
          <p:nvPr/>
        </p:nvSpPr>
        <p:spPr>
          <a:xfrm>
            <a:off x="732383" y="3027423"/>
            <a:ext cx="47277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40302050405020303" pitchFamily="18" charset="0"/>
              </a:rPr>
              <a:t>Output Files: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Codon Isolated File (CSV):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Has the given sites nucleotides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The </a:t>
            </a:r>
            <a:r>
              <a:rPr lang="en-US" dirty="0" err="1">
                <a:latin typeface="Georgia Pro Light" panose="02040302050405020303" pitchFamily="18" charset="0"/>
              </a:rPr>
              <a:t>phred</a:t>
            </a:r>
            <a:r>
              <a:rPr lang="en-US" dirty="0">
                <a:latin typeface="Georgia Pro Light" panose="02040302050405020303" pitchFamily="18" charset="0"/>
              </a:rPr>
              <a:t> score for those site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Amino Acid (AA) converted Summary File: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Amino acid per site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Occurrence of that amino acid </a:t>
            </a:r>
          </a:p>
          <a:p>
            <a:pPr marL="287338" lvl="1" indent="-287338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Protein Summary File: </a:t>
            </a:r>
          </a:p>
          <a:p>
            <a:pPr marL="744538" lvl="2" indent="-287338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The combined protein sequence</a:t>
            </a:r>
          </a:p>
          <a:p>
            <a:pPr marL="744538" lvl="2" indent="-287338">
              <a:buFont typeface="Wingdings" panose="05000000000000000000" pitchFamily="2" charset="2"/>
              <a:buChar char="Ø"/>
            </a:pPr>
            <a:r>
              <a:rPr lang="en-US" dirty="0">
                <a:latin typeface="Georgia Pro Light" panose="02040302050405020303" pitchFamily="18" charset="0"/>
              </a:rPr>
              <a:t>The occurrence of that protein sequence </a:t>
            </a:r>
          </a:p>
          <a:p>
            <a:pPr marL="457200" lvl="2" indent="-457200">
              <a:buFont typeface="Wingdings" panose="05000000000000000000" pitchFamily="2" charset="2"/>
              <a:buChar char="§"/>
            </a:pPr>
            <a:r>
              <a:rPr lang="en-US" dirty="0">
                <a:latin typeface="Georgia Pro Light" panose="02040302050405020303" pitchFamily="18" charset="0"/>
              </a:rPr>
              <a:t>Plots (</a:t>
            </a:r>
            <a:r>
              <a:rPr lang="en-US" dirty="0" err="1">
                <a:latin typeface="Georgia Pro Light" panose="02040302050405020303" pitchFamily="18" charset="0"/>
              </a:rPr>
              <a:t>png</a:t>
            </a:r>
            <a:r>
              <a:rPr lang="en-US" dirty="0">
                <a:latin typeface="Georgia Pro Light" panose="02040302050405020303" pitchFamily="18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B3CAA1-68CE-B8A7-2A5D-9C344873DF2F}"/>
              </a:ext>
            </a:extLst>
          </p:cNvPr>
          <p:cNvSpPr/>
          <p:nvPr/>
        </p:nvSpPr>
        <p:spPr>
          <a:xfrm>
            <a:off x="8363368" y="411280"/>
            <a:ext cx="1038184" cy="243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Light" panose="02040302050405020303" pitchFamily="18" charset="0"/>
              </a:rPr>
              <a:t>Input Files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5F1108-E7D6-5296-C12E-AAA7AC8CE20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882460" y="654854"/>
            <a:ext cx="0" cy="307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2184D2F-DC96-2B2E-A6C8-6ECCDA66D900}"/>
              </a:ext>
            </a:extLst>
          </p:cNvPr>
          <p:cNvSpPr txBox="1"/>
          <p:nvPr/>
        </p:nvSpPr>
        <p:spPr>
          <a:xfrm>
            <a:off x="8882460" y="654539"/>
            <a:ext cx="1838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Georgia Pro Light" panose="02040302050405020303" pitchFamily="18" charset="0"/>
              </a:rPr>
              <a:t> Python Script called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F59083-0AA2-87B6-F1C5-F6A3496BCB73}"/>
              </a:ext>
            </a:extLst>
          </p:cNvPr>
          <p:cNvSpPr/>
          <p:nvPr/>
        </p:nvSpPr>
        <p:spPr>
          <a:xfrm>
            <a:off x="7844274" y="1018486"/>
            <a:ext cx="2110961" cy="7663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Read Orientation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Georgia Pro Light" panose="02040302050405020303" pitchFamily="18" charset="0"/>
              </a:rPr>
              <a:t>Biopython</a:t>
            </a:r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04D2BE-06E6-47E7-406A-430615650E46}"/>
              </a:ext>
            </a:extLst>
          </p:cNvPr>
          <p:cNvSpPr/>
          <p:nvPr/>
        </p:nvSpPr>
        <p:spPr>
          <a:xfrm>
            <a:off x="6404130" y="986274"/>
            <a:ext cx="5499042" cy="49553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eorgia Pro Light" panose="020403020504050203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546542-1F6C-7C2E-5E0A-4E101F86FE5C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7707512" y="1784877"/>
            <a:ext cx="1192907" cy="331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7F5AA91-0AD7-63CB-843E-7CEDB0957FD0}"/>
              </a:ext>
            </a:extLst>
          </p:cNvPr>
          <p:cNvSpPr/>
          <p:nvPr/>
        </p:nvSpPr>
        <p:spPr>
          <a:xfrm>
            <a:off x="6588139" y="2116297"/>
            <a:ext cx="2238746" cy="82682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Multiple Sequence Alignment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(Muscle5)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4DA75B-D088-48CD-09B0-4FF749899FA7}"/>
              </a:ext>
            </a:extLst>
          </p:cNvPr>
          <p:cNvSpPr/>
          <p:nvPr/>
        </p:nvSpPr>
        <p:spPr>
          <a:xfrm>
            <a:off x="8374077" y="2949131"/>
            <a:ext cx="1402220" cy="61179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Alignment File Outputted (</a:t>
            </a:r>
            <a:r>
              <a:rPr lang="en-US" sz="1400" dirty="0" err="1">
                <a:solidFill>
                  <a:schemeClr val="tx1"/>
                </a:solidFill>
                <a:latin typeface="Georgia Pro Light" panose="02040302050405020303" pitchFamily="18" charset="0"/>
              </a:rPr>
              <a:t>aln.fasta</a:t>
            </a:r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9BAC75-0DB7-512A-1512-1976DD49FCE9}"/>
              </a:ext>
            </a:extLst>
          </p:cNvPr>
          <p:cNvSpPr/>
          <p:nvPr/>
        </p:nvSpPr>
        <p:spPr>
          <a:xfrm>
            <a:off x="8073414" y="3657735"/>
            <a:ext cx="2110961" cy="7663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Alignment Parsing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Georgia Pro Light" panose="02040302050405020303" pitchFamily="18" charset="0"/>
              </a:rPr>
              <a:t>Biopython</a:t>
            </a:r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8FDD61-187B-64F9-81E4-ECC142F94225}"/>
              </a:ext>
            </a:extLst>
          </p:cNvPr>
          <p:cNvCxnSpPr>
            <a:cxnSpLocks/>
            <a:stCxn id="16" idx="4"/>
            <a:endCxn id="17" idx="1"/>
          </p:cNvCxnSpPr>
          <p:nvPr/>
        </p:nvCxnSpPr>
        <p:spPr>
          <a:xfrm>
            <a:off x="7707512" y="2943120"/>
            <a:ext cx="666565" cy="311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0D4675-26A8-1316-9746-5F4526034721}"/>
              </a:ext>
            </a:extLst>
          </p:cNvPr>
          <p:cNvSpPr/>
          <p:nvPr/>
        </p:nvSpPr>
        <p:spPr>
          <a:xfrm>
            <a:off x="6910577" y="4821736"/>
            <a:ext cx="1345646" cy="6076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Summary AA Files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 (CSV)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816731-663F-25CA-529C-982FE304C778}"/>
              </a:ext>
            </a:extLst>
          </p:cNvPr>
          <p:cNvCxnSpPr>
            <a:cxnSpLocks/>
            <a:stCxn id="18" idx="3"/>
            <a:endCxn id="26" idx="0"/>
          </p:cNvCxnSpPr>
          <p:nvPr/>
        </p:nvCxnSpPr>
        <p:spPr>
          <a:xfrm flipH="1">
            <a:off x="7583400" y="4311891"/>
            <a:ext cx="799157" cy="509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0706A9B-7D4B-D36F-D1D2-CE18F5299C72}"/>
              </a:ext>
            </a:extLst>
          </p:cNvPr>
          <p:cNvSpPr/>
          <p:nvPr/>
        </p:nvSpPr>
        <p:spPr>
          <a:xfrm>
            <a:off x="8433244" y="5291212"/>
            <a:ext cx="1345646" cy="6076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Codon Isolated File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 (CSV)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2112268-A02A-7435-BABB-35402DF11DC9}"/>
              </a:ext>
            </a:extLst>
          </p:cNvPr>
          <p:cNvCxnSpPr>
            <a:cxnSpLocks/>
            <a:stCxn id="18" idx="4"/>
            <a:endCxn id="29" idx="0"/>
          </p:cNvCxnSpPr>
          <p:nvPr/>
        </p:nvCxnSpPr>
        <p:spPr>
          <a:xfrm flipH="1">
            <a:off x="9106067" y="4424126"/>
            <a:ext cx="22828" cy="867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312CB1C-5548-A6C3-BEC3-C4BE83C0515F}"/>
              </a:ext>
            </a:extLst>
          </p:cNvPr>
          <p:cNvSpPr/>
          <p:nvPr/>
        </p:nvSpPr>
        <p:spPr>
          <a:xfrm>
            <a:off x="10075702" y="4831471"/>
            <a:ext cx="1345646" cy="6076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Summary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Plots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 (</a:t>
            </a:r>
            <a:r>
              <a:rPr lang="en-US" sz="1400" dirty="0" err="1">
                <a:solidFill>
                  <a:schemeClr val="tx1"/>
                </a:solidFill>
                <a:latin typeface="Georgia Pro Light" panose="02040302050405020303" pitchFamily="18" charset="0"/>
              </a:rPr>
              <a:t>png</a:t>
            </a:r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99BF0-939B-5FE8-4CD1-588EC006FE9C}"/>
              </a:ext>
            </a:extLst>
          </p:cNvPr>
          <p:cNvCxnSpPr>
            <a:cxnSpLocks/>
            <a:stCxn id="18" idx="5"/>
            <a:endCxn id="33" idx="0"/>
          </p:cNvCxnSpPr>
          <p:nvPr/>
        </p:nvCxnSpPr>
        <p:spPr>
          <a:xfrm>
            <a:off x="9875232" y="4311891"/>
            <a:ext cx="873293" cy="519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DC401B5-56CF-3D74-A8D8-C2B0FD99A897}"/>
              </a:ext>
            </a:extLst>
          </p:cNvPr>
          <p:cNvSpPr txBox="1"/>
          <p:nvPr/>
        </p:nvSpPr>
        <p:spPr>
          <a:xfrm>
            <a:off x="8773804" y="4491311"/>
            <a:ext cx="896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u="sng" dirty="0">
                <a:latin typeface="Georgia Pro Light" panose="02040302050405020303" pitchFamily="18" charset="0"/>
              </a:rPr>
              <a:t>Output</a:t>
            </a:r>
            <a:endParaRPr lang="en-US" i="1" u="sng" dirty="0">
              <a:latin typeface="Georgia Pro Light" panose="02040302050405020303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9994E77-CC95-B87B-CF91-111B49B1D804}"/>
              </a:ext>
            </a:extLst>
          </p:cNvPr>
          <p:cNvSpPr/>
          <p:nvPr/>
        </p:nvSpPr>
        <p:spPr>
          <a:xfrm>
            <a:off x="8515101" y="6064411"/>
            <a:ext cx="1181932" cy="243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Light" panose="02040302050405020303" pitchFamily="18" charset="0"/>
              </a:rPr>
              <a:t>Output Files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E7DCAB4-FC22-F096-5B13-B423DF77E9AB}"/>
              </a:ext>
            </a:extLst>
          </p:cNvPr>
          <p:cNvCxnSpPr>
            <a:cxnSpLocks/>
            <a:stCxn id="26" idx="2"/>
            <a:endCxn id="43" idx="1"/>
          </p:cNvCxnSpPr>
          <p:nvPr/>
        </p:nvCxnSpPr>
        <p:spPr>
          <a:xfrm rot="16200000" flipH="1">
            <a:off x="7670853" y="5341950"/>
            <a:ext cx="756794" cy="9317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A78A4A2-F373-7778-E870-544451A5646C}"/>
              </a:ext>
            </a:extLst>
          </p:cNvPr>
          <p:cNvCxnSpPr>
            <a:cxnSpLocks/>
            <a:stCxn id="29" idx="2"/>
            <a:endCxn id="43" idx="0"/>
          </p:cNvCxnSpPr>
          <p:nvPr/>
        </p:nvCxnSpPr>
        <p:spPr>
          <a:xfrm>
            <a:off x="9106067" y="5898880"/>
            <a:ext cx="0" cy="165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DE37260-D857-6C69-C421-CC17D98C18B5}"/>
              </a:ext>
            </a:extLst>
          </p:cNvPr>
          <p:cNvCxnSpPr>
            <a:cxnSpLocks/>
            <a:stCxn id="33" idx="2"/>
            <a:endCxn id="43" idx="3"/>
          </p:cNvCxnSpPr>
          <p:nvPr/>
        </p:nvCxnSpPr>
        <p:spPr>
          <a:xfrm rot="5400000">
            <a:off x="9849250" y="5286922"/>
            <a:ext cx="747059" cy="10514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F78974E-3EAB-D4FA-339C-889F3E81B3FC}"/>
              </a:ext>
            </a:extLst>
          </p:cNvPr>
          <p:cNvSpPr txBox="1"/>
          <p:nvPr/>
        </p:nvSpPr>
        <p:spPr>
          <a:xfrm>
            <a:off x="6473677" y="924627"/>
            <a:ext cx="1202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Makes all the sequences be in forward direction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4F4F242-FC5A-C71B-2C4D-534E71090867}"/>
              </a:ext>
            </a:extLst>
          </p:cNvPr>
          <p:cNvCxnSpPr>
            <a:cxnSpLocks/>
            <a:stCxn id="13" idx="2"/>
            <a:endCxn id="66" idx="3"/>
          </p:cNvCxnSpPr>
          <p:nvPr/>
        </p:nvCxnSpPr>
        <p:spPr>
          <a:xfrm flipH="1" flipV="1">
            <a:off x="7676235" y="1401681"/>
            <a:ext cx="1680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15C5E61-E3E1-9180-5D0E-76421C0E8D76}"/>
              </a:ext>
            </a:extLst>
          </p:cNvPr>
          <p:cNvSpPr/>
          <p:nvPr/>
        </p:nvSpPr>
        <p:spPr>
          <a:xfrm>
            <a:off x="9182602" y="2084604"/>
            <a:ext cx="2238746" cy="82682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Multiple Sequence Alignment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Georgia Pro Light" panose="02040302050405020303" pitchFamily="18" charset="0"/>
              </a:rPr>
              <a:t>(MAFFT)</a:t>
            </a:r>
            <a:endParaRPr lang="en-US" dirty="0">
              <a:solidFill>
                <a:schemeClr val="tx1"/>
              </a:solidFill>
              <a:latin typeface="Georgia Pro Light" panose="020403020504050203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D4C955-D2A5-9C24-3E64-4552438F8024}"/>
              </a:ext>
            </a:extLst>
          </p:cNvPr>
          <p:cNvCxnSpPr>
            <a:stCxn id="13" idx="4"/>
            <a:endCxn id="10" idx="0"/>
          </p:cNvCxnSpPr>
          <p:nvPr/>
        </p:nvCxnSpPr>
        <p:spPr>
          <a:xfrm>
            <a:off x="8899755" y="1784877"/>
            <a:ext cx="1402220" cy="299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F34098D-7414-0E7A-8C20-1EB505B850ED}"/>
              </a:ext>
            </a:extLst>
          </p:cNvPr>
          <p:cNvCxnSpPr>
            <a:stCxn id="10" idx="4"/>
            <a:endCxn id="17" idx="3"/>
          </p:cNvCxnSpPr>
          <p:nvPr/>
        </p:nvCxnSpPr>
        <p:spPr>
          <a:xfrm flipH="1">
            <a:off x="9776297" y="2911427"/>
            <a:ext cx="525678" cy="34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662BCFD-DE2C-3A47-7E28-FDAC0F0ED607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9075187" y="3560927"/>
            <a:ext cx="0" cy="197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335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362827-ABC1-F8CD-DB4C-06D21DEB1AA2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Script Arguments and Mode: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8BD1D1-1828-5D93-EA08-51F8F9EDA978}"/>
              </a:ext>
            </a:extLst>
          </p:cNvPr>
          <p:cNvSpPr txBox="1"/>
          <p:nvPr/>
        </p:nvSpPr>
        <p:spPr>
          <a:xfrm>
            <a:off x="2668294" y="6488668"/>
            <a:ext cx="5811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Can be called upon from the shell using “–help” argument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62591-9D80-4540-00AC-DC6F293C7C59}"/>
              </a:ext>
            </a:extLst>
          </p:cNvPr>
          <p:cNvSpPr txBox="1"/>
          <p:nvPr/>
        </p:nvSpPr>
        <p:spPr>
          <a:xfrm>
            <a:off x="192822" y="2178586"/>
            <a:ext cx="53056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1.  </a:t>
            </a:r>
            <a:r>
              <a:rPr lang="en-US" b="1" u="sng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Full MSA with MUSCLE</a:t>
            </a: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python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extract_codons_qc.py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extract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-r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ref_ma_gne.fa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i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"X5DWGR #1 SAL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pBK_Post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POS SEL 10 mM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AcK.fastq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"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-s 121,125,126,129,168,206,223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-o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detailed_muscle_full.csv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--aligner muscle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--algorithm super5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--aligned-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fasta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-out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aln_muscle_full.fa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--summary-csv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aa_muscle_full_summary.csv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--plots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--plot-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dir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plots_muscle_full</a:t>
            </a:r>
            <a:endParaRPr lang="en-US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</p:txBody>
      </p:sp>
      <p:sp>
        <p:nvSpPr>
          <p:cNvPr id="9" name="5-Point Star 8">
            <a:extLst>
              <a:ext uri="{FF2B5EF4-FFF2-40B4-BE49-F238E27FC236}">
                <a16:creationId xmlns:a16="http://schemas.microsoft.com/office/drawing/2014/main" id="{4E50BE1B-5F3B-FAD8-43C4-8CD45389B318}"/>
              </a:ext>
            </a:extLst>
          </p:cNvPr>
          <p:cNvSpPr/>
          <p:nvPr/>
        </p:nvSpPr>
        <p:spPr>
          <a:xfrm>
            <a:off x="2366604" y="6544977"/>
            <a:ext cx="301690" cy="256714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25F40-154E-295A-531D-4FD46D8B8C28}"/>
              </a:ext>
            </a:extLst>
          </p:cNvPr>
          <p:cNvSpPr txBox="1"/>
          <p:nvPr/>
        </p:nvSpPr>
        <p:spPr>
          <a:xfrm>
            <a:off x="192822" y="1696971"/>
            <a:ext cx="3889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40302050405020303" pitchFamily="18" charset="0"/>
              </a:rPr>
              <a:t>Alignment Through Muscle: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8F703-A518-DD34-A93A-D1C9C45278E4}"/>
              </a:ext>
            </a:extLst>
          </p:cNvPr>
          <p:cNvSpPr txBox="1"/>
          <p:nvPr/>
        </p:nvSpPr>
        <p:spPr>
          <a:xfrm>
            <a:off x="6096000" y="2105004"/>
            <a:ext cx="526958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Georgia Pro Light" panose="02040302050405020303" pitchFamily="18" charset="0"/>
              </a:rPr>
              <a:t>2) Reference-only (profile) with MUSCLE v5</a:t>
            </a: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40302050405020303" pitchFamily="18" charset="0"/>
              </a:rPr>
              <a:t>python </a:t>
            </a:r>
            <a:r>
              <a:rPr lang="en-US" dirty="0" err="1">
                <a:latin typeface="Georgia Pro Light" panose="02040302050405020303" pitchFamily="18" charset="0"/>
              </a:rPr>
              <a:t>extract_codons_qc.py</a:t>
            </a:r>
            <a:r>
              <a:rPr lang="en-US" dirty="0">
                <a:latin typeface="Georgia Pro Light" panose="02040302050405020303" pitchFamily="18" charset="0"/>
              </a:rPr>
              <a:t> extract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-r </a:t>
            </a:r>
            <a:r>
              <a:rPr lang="en-US" dirty="0" err="1">
                <a:latin typeface="Georgia Pro Light" panose="02040302050405020303" pitchFamily="18" charset="0"/>
              </a:rPr>
              <a:t>ref_ma_gne.fa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</a:t>
            </a:r>
            <a:r>
              <a:rPr lang="en-US" dirty="0" err="1">
                <a:latin typeface="Georgia Pro Light" panose="02040302050405020303" pitchFamily="18" charset="0"/>
              </a:rPr>
              <a:t>i</a:t>
            </a:r>
            <a:r>
              <a:rPr lang="en-US" dirty="0">
                <a:latin typeface="Georgia Pro Light" panose="02040302050405020303" pitchFamily="18" charset="0"/>
              </a:rPr>
              <a:t> "X5DWGR #1 SAL </a:t>
            </a:r>
            <a:r>
              <a:rPr lang="en-US" dirty="0" err="1">
                <a:latin typeface="Georgia Pro Light" panose="02040302050405020303" pitchFamily="18" charset="0"/>
              </a:rPr>
              <a:t>pBK_Post</a:t>
            </a:r>
            <a:r>
              <a:rPr lang="en-US" dirty="0">
                <a:latin typeface="Georgia Pro Light" panose="02040302050405020303" pitchFamily="18" charset="0"/>
              </a:rPr>
              <a:t> POS SEL 10 mM </a:t>
            </a:r>
            <a:r>
              <a:rPr lang="en-US" dirty="0" err="1">
                <a:latin typeface="Georgia Pro Light" panose="02040302050405020303" pitchFamily="18" charset="0"/>
              </a:rPr>
              <a:t>AcK.fastq</a:t>
            </a:r>
            <a:r>
              <a:rPr lang="en-US" dirty="0">
                <a:latin typeface="Georgia Pro Light" panose="02040302050405020303" pitchFamily="18" charset="0"/>
              </a:rPr>
              <a:t>"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-s 121,125,126,129,168,206,223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-o </a:t>
            </a:r>
            <a:r>
              <a:rPr lang="en-US" dirty="0" err="1">
                <a:latin typeface="Georgia Pro Light" panose="02040302050405020303" pitchFamily="18" charset="0"/>
              </a:rPr>
              <a:t>detailed_muscle_profile.csv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--aligner muscle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--profile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--muscle-bin /</a:t>
            </a:r>
            <a:r>
              <a:rPr lang="en-US" dirty="0" err="1">
                <a:latin typeface="Georgia Pro Light" panose="02040302050405020303" pitchFamily="18" charset="0"/>
              </a:rPr>
              <a:t>usr</a:t>
            </a:r>
            <a:r>
              <a:rPr lang="en-US" dirty="0">
                <a:latin typeface="Georgia Pro Light" panose="02040302050405020303" pitchFamily="18" charset="0"/>
              </a:rPr>
              <a:t>/local/bin/muscle5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--aligned-</a:t>
            </a:r>
            <a:r>
              <a:rPr lang="en-US" dirty="0" err="1">
                <a:latin typeface="Georgia Pro Light" panose="02040302050405020303" pitchFamily="18" charset="0"/>
              </a:rPr>
              <a:t>fasta</a:t>
            </a:r>
            <a:r>
              <a:rPr lang="en-US" dirty="0">
                <a:latin typeface="Georgia Pro Light" panose="02040302050405020303" pitchFamily="18" charset="0"/>
              </a:rPr>
              <a:t>-out </a:t>
            </a:r>
            <a:r>
              <a:rPr lang="en-US" dirty="0" err="1">
                <a:latin typeface="Georgia Pro Light" panose="02040302050405020303" pitchFamily="18" charset="0"/>
              </a:rPr>
              <a:t>aln_muscle_profile.fa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--summary-csv </a:t>
            </a:r>
            <a:r>
              <a:rPr lang="en-US" dirty="0" err="1">
                <a:latin typeface="Georgia Pro Light" panose="02040302050405020303" pitchFamily="18" charset="0"/>
              </a:rPr>
              <a:t>aa_muscle_profile_summary.csv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--plots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--plot-</a:t>
            </a:r>
            <a:r>
              <a:rPr lang="en-US" dirty="0" err="1">
                <a:latin typeface="Georgia Pro Light" panose="02040302050405020303" pitchFamily="18" charset="0"/>
              </a:rPr>
              <a:t>dir</a:t>
            </a:r>
            <a:r>
              <a:rPr lang="en-US" dirty="0">
                <a:latin typeface="Georgia Pro Light" panose="02040302050405020303" pitchFamily="18" charset="0"/>
              </a:rPr>
              <a:t> </a:t>
            </a:r>
            <a:r>
              <a:rPr lang="en-US" dirty="0" err="1">
                <a:latin typeface="Georgia Pro Light" panose="02040302050405020303" pitchFamily="18" charset="0"/>
              </a:rPr>
              <a:t>plots_muscle_profile</a:t>
            </a:r>
            <a:endParaRPr lang="en-US" dirty="0"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43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8C142F-F715-8591-B156-AD60C0D98C0E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Script Arguments and Mode: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F17F3-F507-81E6-1713-8FC223190E7A}"/>
              </a:ext>
            </a:extLst>
          </p:cNvPr>
          <p:cNvSpPr txBox="1"/>
          <p:nvPr/>
        </p:nvSpPr>
        <p:spPr>
          <a:xfrm>
            <a:off x="2668294" y="6488668"/>
            <a:ext cx="5811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Can be called upon from the shell using “–help” argument</a:t>
            </a:r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F036DA80-3F26-D82F-7083-461CBDAAA2FB}"/>
              </a:ext>
            </a:extLst>
          </p:cNvPr>
          <p:cNvSpPr/>
          <p:nvPr/>
        </p:nvSpPr>
        <p:spPr>
          <a:xfrm>
            <a:off x="2366604" y="6544977"/>
            <a:ext cx="301690" cy="256714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8CE9D-567E-3AD6-3D73-9ECC41A37E4D}"/>
              </a:ext>
            </a:extLst>
          </p:cNvPr>
          <p:cNvSpPr txBox="1"/>
          <p:nvPr/>
        </p:nvSpPr>
        <p:spPr>
          <a:xfrm>
            <a:off x="192822" y="1696971"/>
            <a:ext cx="711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40302050405020303" pitchFamily="18" charset="0"/>
              </a:rPr>
              <a:t>Alignment Through </a:t>
            </a:r>
            <a:r>
              <a:rPr lang="en-US" b="1" dirty="0" err="1">
                <a:latin typeface="Georgia Pro Light" panose="02040302050405020303" pitchFamily="18" charset="0"/>
              </a:rPr>
              <a:t>Mafft</a:t>
            </a:r>
            <a:r>
              <a:rPr lang="en-US" b="1" dirty="0">
                <a:latin typeface="Georgia Pro Light" panose="02040302050405020303" pitchFamily="18" charset="0"/>
              </a:rPr>
              <a:t>: </a:t>
            </a:r>
            <a:r>
              <a:rPr lang="en-US" b="1" i="1" dirty="0">
                <a:solidFill>
                  <a:srgbClr val="FF0000"/>
                </a:solidFill>
                <a:latin typeface="Georgia Pro Light" panose="02040302050405020303" pitchFamily="18" charset="0"/>
              </a:rPr>
              <a:t>Preferred</a:t>
            </a:r>
            <a:r>
              <a:rPr lang="en-US" b="1" dirty="0">
                <a:latin typeface="Georgia Pro Light" panose="02040302050405020303" pitchFamily="18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E8967D-6304-CE79-8500-0555DF9E918D}"/>
              </a:ext>
            </a:extLst>
          </p:cNvPr>
          <p:cNvSpPr txBox="1"/>
          <p:nvPr/>
        </p:nvSpPr>
        <p:spPr>
          <a:xfrm>
            <a:off x="192822" y="2178586"/>
            <a:ext cx="53056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1.  </a:t>
            </a:r>
            <a:r>
              <a:rPr lang="en-US" b="1" u="sng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Full MSA with </a:t>
            </a:r>
            <a:r>
              <a:rPr lang="en-US" b="1" u="sng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Mafft</a:t>
            </a:r>
            <a:r>
              <a:rPr lang="en-US" b="1" u="sng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:</a:t>
            </a: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python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extract_codons_qc.py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extract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-r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ref_ma_gne.fa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i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"X5DWGR #1 SAL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pBK_Post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POS SEL 10 mM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AcK.fastq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"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-s 121,125,126,129,168,206,223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-o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detailed_mafft_full.csv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--aligner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mafft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--aligned-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fasta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-out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aln_mafft_full.fa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--summary-csv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aa_mafft_full_summary.csv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--plots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 --plot-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dir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plots_mafft_full</a:t>
            </a:r>
            <a:endParaRPr lang="en-US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7B1C8C-2497-AED2-7BE9-B2C79FA51B53}"/>
              </a:ext>
            </a:extLst>
          </p:cNvPr>
          <p:cNvSpPr txBox="1"/>
          <p:nvPr/>
        </p:nvSpPr>
        <p:spPr>
          <a:xfrm>
            <a:off x="6096000" y="2076204"/>
            <a:ext cx="52695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Georgia Pro Light" panose="02040302050405020303" pitchFamily="18" charset="0"/>
              </a:rPr>
              <a:t>2) Reference-only (profile) with </a:t>
            </a:r>
            <a:r>
              <a:rPr lang="en-US" b="1" u="sng" dirty="0" err="1">
                <a:latin typeface="Georgia Pro Light" panose="02040302050405020303" pitchFamily="18" charset="0"/>
              </a:rPr>
              <a:t>Mafft</a:t>
            </a:r>
            <a:endParaRPr lang="en-US" b="1" u="sng" dirty="0">
              <a:latin typeface="Georgia Pro Light" panose="02040302050405020303" pitchFamily="18" charset="0"/>
            </a:endParaRP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40302050405020303" pitchFamily="18" charset="0"/>
              </a:rPr>
              <a:t>python </a:t>
            </a:r>
            <a:r>
              <a:rPr lang="en-US" dirty="0" err="1">
                <a:latin typeface="Georgia Pro Light" panose="02040302050405020303" pitchFamily="18" charset="0"/>
              </a:rPr>
              <a:t>extract_codons_qc.py</a:t>
            </a:r>
            <a:r>
              <a:rPr lang="en-US" dirty="0">
                <a:latin typeface="Georgia Pro Light" panose="02040302050405020303" pitchFamily="18" charset="0"/>
              </a:rPr>
              <a:t> extract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-r </a:t>
            </a:r>
            <a:r>
              <a:rPr lang="en-US" dirty="0" err="1">
                <a:latin typeface="Georgia Pro Light" panose="02040302050405020303" pitchFamily="18" charset="0"/>
              </a:rPr>
              <a:t>ref_ma_gne.fa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</a:t>
            </a:r>
            <a:r>
              <a:rPr lang="en-US" dirty="0" err="1">
                <a:latin typeface="Georgia Pro Light" panose="02040302050405020303" pitchFamily="18" charset="0"/>
              </a:rPr>
              <a:t>i</a:t>
            </a:r>
            <a:r>
              <a:rPr lang="en-US" dirty="0">
                <a:latin typeface="Georgia Pro Light" panose="02040302050405020303" pitchFamily="18" charset="0"/>
              </a:rPr>
              <a:t> "X5DWGR #1 SAL </a:t>
            </a:r>
            <a:r>
              <a:rPr lang="en-US" dirty="0" err="1">
                <a:latin typeface="Georgia Pro Light" panose="02040302050405020303" pitchFamily="18" charset="0"/>
              </a:rPr>
              <a:t>pBK_Post</a:t>
            </a:r>
            <a:r>
              <a:rPr lang="en-US" dirty="0">
                <a:latin typeface="Georgia Pro Light" panose="02040302050405020303" pitchFamily="18" charset="0"/>
              </a:rPr>
              <a:t> POS SEL 10 mM </a:t>
            </a:r>
            <a:r>
              <a:rPr lang="en-US" dirty="0" err="1">
                <a:latin typeface="Georgia Pro Light" panose="02040302050405020303" pitchFamily="18" charset="0"/>
              </a:rPr>
              <a:t>AcK.fastq</a:t>
            </a:r>
            <a:r>
              <a:rPr lang="en-US" dirty="0">
                <a:latin typeface="Georgia Pro Light" panose="02040302050405020303" pitchFamily="18" charset="0"/>
              </a:rPr>
              <a:t>"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-s 121,125,126,129,168,206,223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-o </a:t>
            </a:r>
            <a:r>
              <a:rPr lang="en-US" dirty="0" err="1">
                <a:latin typeface="Georgia Pro Light" panose="02040302050405020303" pitchFamily="18" charset="0"/>
              </a:rPr>
              <a:t>detailed_mafft_profile.csv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--aligner </a:t>
            </a:r>
            <a:r>
              <a:rPr lang="en-US" dirty="0" err="1">
                <a:latin typeface="Georgia Pro Light" panose="02040302050405020303" pitchFamily="18" charset="0"/>
              </a:rPr>
              <a:t>mafft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--profile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--aligned-</a:t>
            </a:r>
            <a:r>
              <a:rPr lang="en-US" dirty="0" err="1">
                <a:latin typeface="Georgia Pro Light" panose="02040302050405020303" pitchFamily="18" charset="0"/>
              </a:rPr>
              <a:t>fasta</a:t>
            </a:r>
            <a:r>
              <a:rPr lang="en-US" dirty="0">
                <a:latin typeface="Georgia Pro Light" panose="02040302050405020303" pitchFamily="18" charset="0"/>
              </a:rPr>
              <a:t>-out </a:t>
            </a:r>
            <a:r>
              <a:rPr lang="en-US" dirty="0" err="1">
                <a:latin typeface="Georgia Pro Light" panose="02040302050405020303" pitchFamily="18" charset="0"/>
              </a:rPr>
              <a:t>aln_mafft_profile.fa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--summary-csv </a:t>
            </a:r>
            <a:r>
              <a:rPr lang="en-US" dirty="0" err="1">
                <a:latin typeface="Georgia Pro Light" panose="02040302050405020303" pitchFamily="18" charset="0"/>
              </a:rPr>
              <a:t>aa_mafft_profile_summary.csv</a:t>
            </a:r>
            <a:r>
              <a:rPr lang="en-US" dirty="0">
                <a:latin typeface="Georgia Pro Light" panose="02040302050405020303" pitchFamily="18" charset="0"/>
              </a:rPr>
              <a:t>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--plots \</a:t>
            </a:r>
          </a:p>
          <a:p>
            <a:r>
              <a:rPr lang="en-US" dirty="0">
                <a:latin typeface="Georgia Pro Light" panose="02040302050405020303" pitchFamily="18" charset="0"/>
              </a:rPr>
              <a:t>  --plot-</a:t>
            </a:r>
            <a:r>
              <a:rPr lang="en-US" dirty="0" err="1">
                <a:latin typeface="Georgia Pro Light" panose="02040302050405020303" pitchFamily="18" charset="0"/>
              </a:rPr>
              <a:t>dir</a:t>
            </a:r>
            <a:r>
              <a:rPr lang="en-US" dirty="0">
                <a:latin typeface="Georgia Pro Light" panose="02040302050405020303" pitchFamily="18" charset="0"/>
              </a:rPr>
              <a:t> </a:t>
            </a:r>
            <a:r>
              <a:rPr lang="en-US" dirty="0" err="1">
                <a:latin typeface="Georgia Pro Light" panose="02040302050405020303" pitchFamily="18" charset="0"/>
              </a:rPr>
              <a:t>plots_mafft_profile</a:t>
            </a:r>
            <a:endParaRPr lang="en-US" dirty="0"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020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CEA044-656C-EA31-38A2-453FF7FE6A22}"/>
              </a:ext>
            </a:extLst>
          </p:cNvPr>
          <p:cNvSpPr txBox="1"/>
          <p:nvPr/>
        </p:nvSpPr>
        <p:spPr>
          <a:xfrm>
            <a:off x="107887" y="62671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{continued}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736AF-C702-E96A-7A06-EAA380AE178F}"/>
              </a:ext>
            </a:extLst>
          </p:cNvPr>
          <p:cNvSpPr txBox="1"/>
          <p:nvPr/>
        </p:nvSpPr>
        <p:spPr>
          <a:xfrm>
            <a:off x="152280" y="780375"/>
            <a:ext cx="99148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Full extraction with orientation + profile mode (aligning only to reference) + summary + plots: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b="1" i="1" dirty="0">
                <a:latin typeface="Georgia Pro Cond Light" panose="02040306050405020303" pitchFamily="18" charset="0"/>
              </a:rPr>
              <a:t>python </a:t>
            </a:r>
            <a:r>
              <a:rPr lang="en-US" b="1" i="1" dirty="0" err="1">
                <a:latin typeface="Georgia Pro Cond Light" panose="02040306050405020303" pitchFamily="18" charset="0"/>
              </a:rPr>
              <a:t>extract_codons_qc.py</a:t>
            </a:r>
            <a:r>
              <a:rPr lang="en-US" b="1" i="1" dirty="0">
                <a:latin typeface="Georgia Pro Cond Light" panose="02040306050405020303" pitchFamily="18" charset="0"/>
              </a:rPr>
              <a:t> extract </a:t>
            </a:r>
            <a:r>
              <a:rPr lang="en-US" b="1" i="1" dirty="0">
                <a:latin typeface="Georgia Pro Light" panose="02040302050405020303" pitchFamily="18" charset="0"/>
              </a:rPr>
              <a:t>:</a:t>
            </a:r>
          </a:p>
          <a:p>
            <a:endParaRPr lang="en-US" i="1" dirty="0">
              <a:latin typeface="Georgia Pro Cond Light" panose="02040306050405020303" pitchFamily="18" charset="0"/>
            </a:endParaRPr>
          </a:p>
          <a:p>
            <a:r>
              <a:rPr lang="en-US" b="1" i="1" dirty="0">
                <a:latin typeface="Georgia Pro Cond Light" panose="02040306050405020303" pitchFamily="18" charset="0"/>
              </a:rPr>
              <a:t>  -r </a:t>
            </a:r>
            <a:r>
              <a:rPr lang="en-US" b="1" i="1" dirty="0" err="1">
                <a:latin typeface="Georgia Pro Cond Light" panose="02040306050405020303" pitchFamily="18" charset="0"/>
              </a:rPr>
              <a:t>ref_ma_gne.fa</a:t>
            </a:r>
            <a:r>
              <a:rPr lang="en-US" b="1" i="1" dirty="0">
                <a:latin typeface="Georgia Pro Cond Light" panose="02040306050405020303" pitchFamily="18" charset="0"/>
              </a:rPr>
              <a:t> \ -</a:t>
            </a:r>
            <a:r>
              <a:rPr lang="en-US" b="1" i="1" dirty="0" err="1">
                <a:latin typeface="Georgia Pro Cond Light" panose="02040306050405020303" pitchFamily="18" charset="0"/>
              </a:rPr>
              <a:t>i</a:t>
            </a:r>
            <a:r>
              <a:rPr lang="en-US" b="1" i="1" dirty="0">
                <a:latin typeface="Georgia Pro Cond Light" panose="02040306050405020303" pitchFamily="18" charset="0"/>
              </a:rPr>
              <a:t> ”</a:t>
            </a:r>
            <a:r>
              <a:rPr lang="en-US" b="1" i="1" dirty="0" err="1">
                <a:latin typeface="Georgia Pro Cond Light" panose="02040306050405020303" pitchFamily="18" charset="0"/>
              </a:rPr>
              <a:t>input.fastq</a:t>
            </a:r>
            <a:r>
              <a:rPr lang="en-US" b="1" i="1" dirty="0">
                <a:latin typeface="Georgia Pro Cond Light" panose="02040306050405020303" pitchFamily="18" charset="0"/>
              </a:rPr>
              <a:t>" </a:t>
            </a:r>
            <a:r>
              <a:rPr lang="en-US" b="1" dirty="0">
                <a:latin typeface="Georgia Pro Light" panose="02040302050405020303" pitchFamily="18" charset="0"/>
              </a:rPr>
              <a:t>: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b="1" i="1" dirty="0">
                <a:latin typeface="Georgia Pro Cond Light" panose="02040306050405020303" pitchFamily="18" charset="0"/>
              </a:rPr>
              <a:t>  -s 121,125,126,129,168,223 \ -o </a:t>
            </a:r>
            <a:r>
              <a:rPr lang="en-US" b="1" i="1" dirty="0" err="1">
                <a:latin typeface="Georgia Pro Cond Light" panose="02040306050405020303" pitchFamily="18" charset="0"/>
              </a:rPr>
              <a:t>detailed_mafft_profile.csv</a:t>
            </a:r>
            <a:r>
              <a:rPr lang="en-US" b="1" dirty="0">
                <a:latin typeface="Georgia Pro Light" panose="02040302050405020303" pitchFamily="18" charset="0"/>
              </a:rPr>
              <a:t> :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dirty="0">
                <a:latin typeface="Georgia Pro Light" panose="02040302050405020303" pitchFamily="18" charset="0"/>
              </a:rPr>
              <a:t> </a:t>
            </a:r>
            <a:r>
              <a:rPr lang="en-US" b="1" i="1" dirty="0">
                <a:latin typeface="Georgia Pro Cond Light" panose="02040306050405020303" pitchFamily="18" charset="0"/>
              </a:rPr>
              <a:t> --aligner </a:t>
            </a:r>
            <a:r>
              <a:rPr lang="en-US" b="1" i="1" dirty="0" err="1">
                <a:latin typeface="Georgia Pro Cond Light" panose="02040306050405020303" pitchFamily="18" charset="0"/>
              </a:rPr>
              <a:t>mafft</a:t>
            </a:r>
            <a:r>
              <a:rPr lang="en-US" b="1" i="1" dirty="0">
                <a:latin typeface="Georgia Pro Cond Light" panose="02040306050405020303" pitchFamily="18" charset="0"/>
              </a:rPr>
              <a:t> :    </a:t>
            </a:r>
            <a:r>
              <a:rPr lang="en-US" dirty="0">
                <a:latin typeface="Georgia Pro Light" panose="02040302050405020303" pitchFamily="18" charset="0"/>
              </a:rPr>
              <a:t>Allows for the selection of the alignment software being used (</a:t>
            </a:r>
            <a:r>
              <a:rPr lang="en-US" dirty="0" err="1">
                <a:latin typeface="Georgia Pro Light" panose="02040302050405020303" pitchFamily="18" charset="0"/>
              </a:rPr>
              <a:t>mafft</a:t>
            </a:r>
            <a:r>
              <a:rPr lang="en-US" dirty="0">
                <a:latin typeface="Georgia Pro Light" panose="02040302050405020303" pitchFamily="18" charset="0"/>
              </a:rPr>
              <a:t>/ muscle)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dirty="0">
                <a:latin typeface="Georgia Pro Light" panose="02040302050405020303" pitchFamily="18" charset="0"/>
              </a:rPr>
              <a:t>  </a:t>
            </a:r>
            <a:r>
              <a:rPr lang="en-US" b="1" i="1" dirty="0">
                <a:latin typeface="Georgia Pro Cond Light" panose="02040306050405020303" pitchFamily="18" charset="0"/>
              </a:rPr>
              <a:t>--profile : </a:t>
            </a:r>
            <a:r>
              <a:rPr lang="en-US" dirty="0">
                <a:latin typeface="Georgia Pro Light" panose="02040302050405020303" pitchFamily="18" charset="0"/>
              </a:rPr>
              <a:t>Is calling for alignment only to the reference rather than the whole genome (</a:t>
            </a:r>
            <a:r>
              <a:rPr lang="en-US" b="1" i="1" dirty="0">
                <a:solidFill>
                  <a:srgbClr val="FF0000"/>
                </a:solidFill>
                <a:latin typeface="Georgia Pro Light" panose="02040302050405020303" pitchFamily="18" charset="0"/>
              </a:rPr>
              <a:t>Preferred)</a:t>
            </a:r>
            <a:endParaRPr lang="en-US" dirty="0">
              <a:latin typeface="Georgia Pro Light" panose="02040302050405020303" pitchFamily="18" charset="0"/>
            </a:endParaRP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dirty="0">
                <a:latin typeface="Georgia Pro Light" panose="02040302050405020303" pitchFamily="18" charset="0"/>
              </a:rPr>
              <a:t>  </a:t>
            </a:r>
            <a:r>
              <a:rPr lang="en-US" b="1" i="1" dirty="0">
                <a:latin typeface="Georgia Pro Cond Light" panose="02040306050405020303" pitchFamily="18" charset="0"/>
              </a:rPr>
              <a:t>--aligned-</a:t>
            </a:r>
            <a:r>
              <a:rPr lang="en-US" b="1" i="1" dirty="0" err="1">
                <a:latin typeface="Georgia Pro Cond Light" panose="02040306050405020303" pitchFamily="18" charset="0"/>
              </a:rPr>
              <a:t>fasta</a:t>
            </a:r>
            <a:r>
              <a:rPr lang="en-US" b="1" i="1" dirty="0">
                <a:latin typeface="Georgia Pro Cond Light" panose="02040306050405020303" pitchFamily="18" charset="0"/>
              </a:rPr>
              <a:t>-out </a:t>
            </a:r>
            <a:r>
              <a:rPr lang="en-US" b="1" i="1" dirty="0" err="1">
                <a:latin typeface="Georgia Pro Cond Light" panose="02040306050405020303" pitchFamily="18" charset="0"/>
              </a:rPr>
              <a:t>aln_mafft_profile.fa</a:t>
            </a:r>
            <a:r>
              <a:rPr lang="en-US" b="1" i="1" dirty="0">
                <a:latin typeface="Georgia Pro Cond Light" panose="02040306050405020303" pitchFamily="18" charset="0"/>
              </a:rPr>
              <a:t> :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dirty="0">
                <a:latin typeface="Georgia Pro Light" panose="02040302050405020303" pitchFamily="18" charset="0"/>
              </a:rPr>
              <a:t>  </a:t>
            </a:r>
            <a:r>
              <a:rPr lang="en-US" b="1" i="1" dirty="0">
                <a:latin typeface="Georgia Pro Cond Light" panose="02040306050405020303" pitchFamily="18" charset="0"/>
              </a:rPr>
              <a:t>--summary-csv </a:t>
            </a:r>
            <a:r>
              <a:rPr lang="en-US" b="1" i="1" dirty="0" err="1">
                <a:latin typeface="Georgia Pro Cond Light" panose="02040306050405020303" pitchFamily="18" charset="0"/>
              </a:rPr>
              <a:t>aa_mafft_profile_summary.csv</a:t>
            </a:r>
            <a:r>
              <a:rPr lang="en-US" b="1" i="1" dirty="0">
                <a:latin typeface="Georgia Pro Cond Light" panose="02040306050405020303" pitchFamily="18" charset="0"/>
              </a:rPr>
              <a:t> :</a:t>
            </a:r>
          </a:p>
          <a:p>
            <a:endParaRPr lang="en-US" dirty="0">
              <a:latin typeface="Georgia Pro Light" panose="02040302050405020303" pitchFamily="18" charset="0"/>
            </a:endParaRPr>
          </a:p>
          <a:p>
            <a:endParaRPr lang="en-US" dirty="0">
              <a:latin typeface="Georgia Pro Light" panose="02040302050405020303" pitchFamily="18" charset="0"/>
            </a:endParaRPr>
          </a:p>
          <a:p>
            <a:r>
              <a:rPr lang="en-US" b="1" i="1" dirty="0">
                <a:latin typeface="Georgia Pro Cond Light" panose="02040306050405020303" pitchFamily="18" charset="0"/>
              </a:rPr>
              <a:t>  --plots \ --plot-</a:t>
            </a:r>
            <a:r>
              <a:rPr lang="en-US" b="1" i="1" dirty="0" err="1">
                <a:latin typeface="Georgia Pro Cond Light" panose="02040306050405020303" pitchFamily="18" charset="0"/>
              </a:rPr>
              <a:t>dir</a:t>
            </a:r>
            <a:r>
              <a:rPr lang="en-US" b="1" i="1" dirty="0">
                <a:latin typeface="Georgia Pro Cond Light" panose="02040306050405020303" pitchFamily="18" charset="0"/>
              </a:rPr>
              <a:t> </a:t>
            </a:r>
            <a:r>
              <a:rPr lang="en-US" b="1" i="1" dirty="0" err="1">
                <a:latin typeface="Georgia Pro Cond Light" panose="02040306050405020303" pitchFamily="18" charset="0"/>
              </a:rPr>
              <a:t>plots_mafft_profile</a:t>
            </a:r>
            <a:r>
              <a:rPr lang="en-US" b="1" i="1" dirty="0">
                <a:latin typeface="Georgia Pro Cond Light" panose="02040306050405020303" pitchFamily="18" charset="0"/>
              </a:rPr>
              <a:t>:</a:t>
            </a:r>
            <a:endParaRPr lang="en-US" b="1" i="1" dirty="0">
              <a:latin typeface="Georgia Pro Cond Light" panose="02040306050405020303" pitchFamily="18" charset="0"/>
              <a:cs typeface="Georgia Pro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D7D2B-7A62-D736-C5A4-34745967A18A}"/>
              </a:ext>
            </a:extLst>
          </p:cNvPr>
          <p:cNvSpPr txBox="1"/>
          <p:nvPr/>
        </p:nvSpPr>
        <p:spPr>
          <a:xfrm>
            <a:off x="7392760" y="31617"/>
            <a:ext cx="4746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”-” : Implies that this argument is required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“ --”:  Implies that this is an optional argument</a:t>
            </a:r>
          </a:p>
        </p:txBody>
      </p:sp>
      <p:sp>
        <p:nvSpPr>
          <p:cNvPr id="7" name="5-Point Star 6">
            <a:extLst>
              <a:ext uri="{FF2B5EF4-FFF2-40B4-BE49-F238E27FC236}">
                <a16:creationId xmlns:a16="http://schemas.microsoft.com/office/drawing/2014/main" id="{95A28273-BF9A-F419-6E80-F5C60BDFC7AE}"/>
              </a:ext>
            </a:extLst>
          </p:cNvPr>
          <p:cNvSpPr/>
          <p:nvPr/>
        </p:nvSpPr>
        <p:spPr>
          <a:xfrm>
            <a:off x="7025785" y="226426"/>
            <a:ext cx="301690" cy="256714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9B0F6C-AB04-D94B-FB42-87FE701F1395}"/>
              </a:ext>
            </a:extLst>
          </p:cNvPr>
          <p:cNvSpPr txBox="1"/>
          <p:nvPr/>
        </p:nvSpPr>
        <p:spPr>
          <a:xfrm>
            <a:off x="4172434" y="1319632"/>
            <a:ext cx="239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Calls the Python script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C12454-7CD1-32E7-51CC-56802AF917FF}"/>
              </a:ext>
            </a:extLst>
          </p:cNvPr>
          <p:cNvSpPr txBox="1"/>
          <p:nvPr/>
        </p:nvSpPr>
        <p:spPr>
          <a:xfrm>
            <a:off x="3846375" y="1688964"/>
            <a:ext cx="6935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-r “Add the reference path” 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i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“Add the input path” ( Can take multiple inputs)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6B9B0F6C-AB04-D94B-FB42-87FE701F1395}"/>
              </a:ext>
            </a:extLst>
          </p:cNvPr>
          <p:cNvSpPr txBox="1"/>
          <p:nvPr/>
        </p:nvSpPr>
        <p:spPr>
          <a:xfrm>
            <a:off x="6483083" y="2262105"/>
            <a:ext cx="4298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-s “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Georgia Pro Light" panose="020F0302020204030204" pitchFamily="34" charset="0"/>
                <a:cs typeface="Georgia Pro Light" panose="020F0302020204030204" pitchFamily="34" charset="0"/>
              </a:rPr>
              <a:t>codon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sites to examine/isolate”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-o “The path for the complete analysis csv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6B9B0F6C-AB04-D94B-FB42-87FE701F1395}"/>
              </a:ext>
            </a:extLst>
          </p:cNvPr>
          <p:cNvSpPr txBox="1"/>
          <p:nvPr/>
        </p:nvSpPr>
        <p:spPr>
          <a:xfrm>
            <a:off x="4481867" y="4049257"/>
            <a:ext cx="755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Telling the script you would like to be given the Muscle5 Alignment file</a:t>
            </a: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402C5C43-6078-752B-1CCB-F6051D931F74}"/>
              </a:ext>
            </a:extLst>
          </p:cNvPr>
          <p:cNvSpPr txBox="1"/>
          <p:nvPr/>
        </p:nvSpPr>
        <p:spPr>
          <a:xfrm>
            <a:off x="5234878" y="4749276"/>
            <a:ext cx="7126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Telling the script you would like to be given a summary csv (contains amino acid sequences with count and full-protein with occurrence)</a:t>
            </a: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2F7B6EE9-BF3B-2453-9AC4-6C5685FD061F}"/>
              </a:ext>
            </a:extLst>
          </p:cNvPr>
          <p:cNvSpPr txBox="1"/>
          <p:nvPr/>
        </p:nvSpPr>
        <p:spPr>
          <a:xfrm>
            <a:off x="4172434" y="5560729"/>
            <a:ext cx="5570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--plots: tells the script you would like to be given plots. 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--plot-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dir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“The path for the plots to be saved”</a:t>
            </a:r>
          </a:p>
        </p:txBody>
      </p:sp>
    </p:spTree>
    <p:extLst>
      <p:ext uri="{BB962C8B-B14F-4D97-AF65-F5344CB8AC3E}">
        <p14:creationId xmlns:p14="http://schemas.microsoft.com/office/powerpoint/2010/main" val="321584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58C710-AA51-15D9-196E-DB88E9EB77A6}"/>
              </a:ext>
            </a:extLst>
          </p:cNvPr>
          <p:cNvSpPr txBox="1"/>
          <p:nvPr/>
        </p:nvSpPr>
        <p:spPr>
          <a:xfrm>
            <a:off x="770652" y="938358"/>
            <a:ext cx="6800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Script Arguments and Mode:</a:t>
            </a:r>
          </a:p>
          <a:p>
            <a:r>
              <a:rPr lang="en-US" sz="3600" dirty="0">
                <a:latin typeface="Georgia Pro Light" panose="02040302050405020303" pitchFamily="18" charset="0"/>
              </a:rPr>
              <a:t>{continued}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AEFC4-93B2-1FA7-845B-E358AC3E380B}"/>
              </a:ext>
            </a:extLst>
          </p:cNvPr>
          <p:cNvSpPr txBox="1"/>
          <p:nvPr/>
        </p:nvSpPr>
        <p:spPr>
          <a:xfrm>
            <a:off x="770652" y="2219498"/>
            <a:ext cx="280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Extra arguments: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3AA9C-375D-3495-21E4-D18BDB4DC48E}"/>
              </a:ext>
            </a:extLst>
          </p:cNvPr>
          <p:cNvSpPr txBox="1"/>
          <p:nvPr/>
        </p:nvSpPr>
        <p:spPr>
          <a:xfrm>
            <a:off x="167336" y="2732898"/>
            <a:ext cx="581868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'--min-quality’ : </a:t>
            </a:r>
            <a:r>
              <a:rPr lang="en-US" dirty="0"/>
              <a:t>PHRED threshold for low-quality</a:t>
            </a:r>
          </a:p>
          <a:p>
            <a:r>
              <a:rPr lang="en-US" b="1" dirty="0"/>
              <a:t>'-a', '--algorithm’ : </a:t>
            </a:r>
            <a:r>
              <a:rPr lang="en-US" dirty="0"/>
              <a:t>MUSCLE v5 algorithm (align/super5) </a:t>
            </a:r>
          </a:p>
          <a:p>
            <a:r>
              <a:rPr lang="en-US" b="1" dirty="0"/>
              <a:t>“--ref-start”: </a:t>
            </a:r>
            <a:r>
              <a:rPr lang="en-US" dirty="0"/>
              <a:t>1-based codon where region starts for reference</a:t>
            </a:r>
          </a:p>
          <a:p>
            <a:r>
              <a:rPr lang="en-US" b="1" dirty="0"/>
              <a:t>'--ref-end’ </a:t>
            </a:r>
            <a:r>
              <a:rPr lang="en-US" dirty="0"/>
              <a:t>: 1-based codon where region ends for reference </a:t>
            </a:r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8A76B-645E-95BB-673C-3EED358D2BBB}"/>
              </a:ext>
            </a:extLst>
          </p:cNvPr>
          <p:cNvSpPr txBox="1"/>
          <p:nvPr/>
        </p:nvSpPr>
        <p:spPr>
          <a:xfrm>
            <a:off x="6409113" y="2132734"/>
            <a:ext cx="551465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. Reuse MSA to regenerate outputs: </a:t>
            </a:r>
          </a:p>
          <a:p>
            <a:endParaRPr lang="en-US" b="1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Python ./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extract_codons_qc.py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extract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-r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ref.fa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i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"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reads.fastq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" -s 5,10,15 -o detailed2.csv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--aligned-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fasta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aln.fa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--summary-csv summary2.csv --plots --plot-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dir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plots2</a:t>
            </a:r>
          </a:p>
          <a:p>
            <a:endParaRPr lang="en-US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F51254-EAF1-25EF-5DE8-172652CE2261}"/>
              </a:ext>
            </a:extLst>
          </p:cNvPr>
          <p:cNvSpPr txBox="1"/>
          <p:nvPr/>
        </p:nvSpPr>
        <p:spPr>
          <a:xfrm>
            <a:off x="6467302" y="4200055"/>
            <a:ext cx="526137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. Post-process an existing detailed CSV: </a:t>
            </a:r>
          </a:p>
          <a:p>
            <a:endParaRPr lang="en-US" b="1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  <a:p>
            <a:r>
              <a:rPr lang="en-US" b="1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Shell Code (Linux/Mac):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Python ./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extract_codons_qc.py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post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--detailed-csv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detailed.csv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\</a:t>
            </a:r>
          </a:p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--summary-csv 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summary.csv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--plots --plot-</a:t>
            </a:r>
            <a:r>
              <a:rPr lang="en-US" dirty="0" err="1">
                <a:latin typeface="Georgia Pro Light" panose="020F0302020204030204" pitchFamily="34" charset="0"/>
                <a:cs typeface="Georgia Pro Light" panose="020F0302020204030204" pitchFamily="34" charset="0"/>
              </a:rPr>
              <a:t>dir</a:t>
            </a:r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 plots</a:t>
            </a:r>
          </a:p>
          <a:p>
            <a:endParaRPr lang="en-US" dirty="0">
              <a:latin typeface="Georgia Pro Light" panose="020F0302020204030204" pitchFamily="34" charset="0"/>
              <a:cs typeface="Georgia Pro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19DF8-BC99-FA40-80C9-B5B1520217CD}"/>
              </a:ext>
            </a:extLst>
          </p:cNvPr>
          <p:cNvSpPr txBox="1"/>
          <p:nvPr/>
        </p:nvSpPr>
        <p:spPr>
          <a:xfrm>
            <a:off x="6485438" y="1763402"/>
            <a:ext cx="280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Light" panose="020F0302020204030204" pitchFamily="34" charset="0"/>
                <a:cs typeface="Georgia Pro Light" panose="020F0302020204030204" pitchFamily="34" charset="0"/>
              </a:rPr>
              <a:t>Extra commands: </a:t>
            </a:r>
          </a:p>
        </p:txBody>
      </p:sp>
    </p:spTree>
    <p:extLst>
      <p:ext uri="{BB962C8B-B14F-4D97-AF65-F5344CB8AC3E}">
        <p14:creationId xmlns:p14="http://schemas.microsoft.com/office/powerpoint/2010/main" val="375428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0EF975-D4BF-B6D1-E0E7-5E857EB07CB5}"/>
              </a:ext>
            </a:extLst>
          </p:cNvPr>
          <p:cNvSpPr txBox="1"/>
          <p:nvPr/>
        </p:nvSpPr>
        <p:spPr>
          <a:xfrm>
            <a:off x="770652" y="938358"/>
            <a:ext cx="6800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eorgia Pro Light" panose="02040302050405020303" pitchFamily="18" charset="0"/>
              </a:rPr>
              <a:t>Packages: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3D03A-B59B-4EB0-0EC8-790B7237B49A}"/>
              </a:ext>
            </a:extLst>
          </p:cNvPr>
          <p:cNvSpPr txBox="1"/>
          <p:nvPr/>
        </p:nvSpPr>
        <p:spPr>
          <a:xfrm>
            <a:off x="1397555" y="1872723"/>
            <a:ext cx="6568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Georgia Pro Light" panose="02040302050405020303" pitchFamily="18" charset="0"/>
              </a:rPr>
              <a:t>Biopython</a:t>
            </a:r>
            <a:r>
              <a:rPr lang="en-US" b="1" dirty="0">
                <a:latin typeface="Georgia Pro Light" panose="02040302050405020303" pitchFamily="18" charset="0"/>
              </a:rPr>
              <a:t>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 Being used to perform analysis after muscle5 alignment.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Utilized to perform the initial orientation of the </a:t>
            </a:r>
            <a:r>
              <a:rPr lang="en-US" dirty="0" err="1">
                <a:latin typeface="Georgia Pro Light" panose="02040302050405020303" pitchFamily="18" charset="0"/>
              </a:rPr>
              <a:t>fastq</a:t>
            </a:r>
            <a:r>
              <a:rPr lang="en-US" dirty="0">
                <a:latin typeface="Georgia Pro Light" panose="02040302050405020303" pitchFamily="18" charset="0"/>
              </a:rPr>
              <a:t>, which accounts for reads being forward or reverse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44F93-B4C0-C4AC-8A78-F4F32EE0A121}"/>
              </a:ext>
            </a:extLst>
          </p:cNvPr>
          <p:cNvSpPr txBox="1"/>
          <p:nvPr/>
        </p:nvSpPr>
        <p:spPr>
          <a:xfrm>
            <a:off x="1397555" y="3114090"/>
            <a:ext cx="65685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 Pro Light" panose="02040302050405020303" pitchFamily="18" charset="0"/>
              </a:rPr>
              <a:t>Muscle5: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 Performs an MSA alignment of all the sequence to the reference through clustering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For smaller libraries (&lt;1000 sequence) a quicker –align method can be used otherwise use –super5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 Pro Light" panose="020403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061DB-1582-7D3A-ADFF-E91D75952439}"/>
              </a:ext>
            </a:extLst>
          </p:cNvPr>
          <p:cNvSpPr txBox="1"/>
          <p:nvPr/>
        </p:nvSpPr>
        <p:spPr>
          <a:xfrm>
            <a:off x="1397555" y="4580283"/>
            <a:ext cx="65685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Georgia Pro Light" panose="02040302050405020303" pitchFamily="18" charset="0"/>
              </a:rPr>
              <a:t>Mafft</a:t>
            </a:r>
            <a:r>
              <a:rPr lang="en-US" b="1" dirty="0">
                <a:latin typeface="Georgia Pro Light" panose="02040302050405020303" pitchFamily="18" charset="0"/>
              </a:rPr>
              <a:t>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 Performs an MSA alignment of all the sequences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Georgia Pro Light" panose="02040302050405020303" pitchFamily="18" charset="0"/>
              </a:rPr>
              <a:t>Also allows for the much faster alignment by only doing reference alignment</a:t>
            </a:r>
          </a:p>
          <a:p>
            <a:endParaRPr lang="en-US" dirty="0">
              <a:latin typeface="Georgia Pro Light" panose="020403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432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blue rectangular shapes&#10;&#10;AI-generated content may be incorrect.">
            <a:extLst>
              <a:ext uri="{FF2B5EF4-FFF2-40B4-BE49-F238E27FC236}">
                <a16:creationId xmlns:a16="http://schemas.microsoft.com/office/drawing/2014/main" id="{74D4901E-FDF0-3741-E667-82EED4DE5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63" y="2138687"/>
            <a:ext cx="7315200" cy="36576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946A6A4-5623-F3D2-98D6-FBB98266E622}"/>
              </a:ext>
            </a:extLst>
          </p:cNvPr>
          <p:cNvGrpSpPr/>
          <p:nvPr/>
        </p:nvGrpSpPr>
        <p:grpSpPr>
          <a:xfrm>
            <a:off x="770652" y="938358"/>
            <a:ext cx="10318527" cy="5856712"/>
            <a:chOff x="770652" y="938358"/>
            <a:chExt cx="10318527" cy="585671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89D4422-0442-78B2-9344-7AD72DD7554F}"/>
                </a:ext>
              </a:extLst>
            </p:cNvPr>
            <p:cNvSpPr txBox="1"/>
            <p:nvPr/>
          </p:nvSpPr>
          <p:spPr>
            <a:xfrm>
              <a:off x="770652" y="938358"/>
              <a:ext cx="68001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Georgia Pro Light" panose="02040302050405020303" pitchFamily="18" charset="0"/>
                </a:rPr>
                <a:t>Graphs:</a:t>
              </a:r>
            </a:p>
            <a:p>
              <a:r>
                <a:rPr lang="en-US" sz="3600" dirty="0">
                  <a:latin typeface="Georgia Pro Light" panose="02040302050405020303" pitchFamily="18" charset="0"/>
                </a:rPr>
                <a:t>Optional***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6B1B940-9AF1-92EF-F675-15D3762B06A0}"/>
                </a:ext>
              </a:extLst>
            </p:cNvPr>
            <p:cNvSpPr txBox="1"/>
            <p:nvPr/>
          </p:nvSpPr>
          <p:spPr>
            <a:xfrm>
              <a:off x="3358342" y="6425738"/>
              <a:ext cx="49380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Graphs are from the Ack mini-Library analysis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735E51-9503-A3A4-78C3-380A60AAD47D}"/>
                </a:ext>
              </a:extLst>
            </p:cNvPr>
            <p:cNvSpPr txBox="1"/>
            <p:nvPr/>
          </p:nvSpPr>
          <p:spPr>
            <a:xfrm>
              <a:off x="8528859" y="3241964"/>
              <a:ext cx="25603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Is visualizing the average quality for all the sites of the top 5 most occurring combined-full protein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9610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0A580D2-8E92-71AC-51EA-E3B7D4554FA3}"/>
              </a:ext>
            </a:extLst>
          </p:cNvPr>
          <p:cNvGrpSpPr/>
          <p:nvPr/>
        </p:nvGrpSpPr>
        <p:grpSpPr>
          <a:xfrm>
            <a:off x="770652" y="938358"/>
            <a:ext cx="8805868" cy="5856712"/>
            <a:chOff x="770652" y="938358"/>
            <a:chExt cx="8805868" cy="585671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BB155A4-5400-E770-12E8-7D65D9D3E15B}"/>
                </a:ext>
              </a:extLst>
            </p:cNvPr>
            <p:cNvSpPr txBox="1"/>
            <p:nvPr/>
          </p:nvSpPr>
          <p:spPr>
            <a:xfrm>
              <a:off x="770652" y="938358"/>
              <a:ext cx="68001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Georgia Pro Light" panose="02040302050405020303" pitchFamily="18" charset="0"/>
                </a:rPr>
                <a:t>Graphs:</a:t>
              </a:r>
            </a:p>
            <a:p>
              <a:r>
                <a:rPr lang="en-US" sz="3600" dirty="0">
                  <a:latin typeface="Georgia Pro Light" panose="02040302050405020303" pitchFamily="18" charset="0"/>
                </a:rPr>
                <a:t>Optional***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BC0E7E2-3581-C472-6694-EFEF3610DBAD}"/>
                </a:ext>
              </a:extLst>
            </p:cNvPr>
            <p:cNvSpPr txBox="1"/>
            <p:nvPr/>
          </p:nvSpPr>
          <p:spPr>
            <a:xfrm>
              <a:off x="3358342" y="6425738"/>
              <a:ext cx="49380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Graphs are from the Ack mini-Library analysis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9780732-F35E-1E8B-B946-7BDAFA56F06E}"/>
                </a:ext>
              </a:extLst>
            </p:cNvPr>
            <p:cNvSpPr txBox="1"/>
            <p:nvPr/>
          </p:nvSpPr>
          <p:spPr>
            <a:xfrm>
              <a:off x="7016200" y="2828835"/>
              <a:ext cx="25603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Is visualizing the average quality for the particular site in the three quartile range</a:t>
              </a:r>
            </a:p>
          </p:txBody>
        </p:sp>
      </p:grpSp>
      <p:pic>
        <p:nvPicPr>
          <p:cNvPr id="7" name="Picture 6" descr="A diagram of a quality score&#10;&#10;AI-generated content may be incorrect.">
            <a:extLst>
              <a:ext uri="{FF2B5EF4-FFF2-40B4-BE49-F238E27FC236}">
                <a16:creationId xmlns:a16="http://schemas.microsoft.com/office/drawing/2014/main" id="{4EA430A2-95CC-2DEE-951B-E8391D108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21" y="2217073"/>
            <a:ext cx="4580776" cy="343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6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F8AE209-1EE6-19DE-F88F-6BB7DCC70F79}"/>
              </a:ext>
            </a:extLst>
          </p:cNvPr>
          <p:cNvGrpSpPr/>
          <p:nvPr/>
        </p:nvGrpSpPr>
        <p:grpSpPr>
          <a:xfrm>
            <a:off x="770652" y="938358"/>
            <a:ext cx="8805868" cy="5856712"/>
            <a:chOff x="770652" y="938358"/>
            <a:chExt cx="8805868" cy="58567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E496B7-0260-E950-31E3-F4E262E13D74}"/>
                </a:ext>
              </a:extLst>
            </p:cNvPr>
            <p:cNvSpPr txBox="1"/>
            <p:nvPr/>
          </p:nvSpPr>
          <p:spPr>
            <a:xfrm>
              <a:off x="770652" y="938358"/>
              <a:ext cx="68001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Georgia Pro Light" panose="02040302050405020303" pitchFamily="18" charset="0"/>
                </a:rPr>
                <a:t>Graphs:</a:t>
              </a:r>
            </a:p>
            <a:p>
              <a:r>
                <a:rPr lang="en-US" sz="3600" dirty="0">
                  <a:latin typeface="Georgia Pro Light" panose="02040302050405020303" pitchFamily="18" charset="0"/>
                </a:rPr>
                <a:t>Optional***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2400-30DF-71A5-2EF1-6E387E8522F5}"/>
                </a:ext>
              </a:extLst>
            </p:cNvPr>
            <p:cNvSpPr txBox="1"/>
            <p:nvPr/>
          </p:nvSpPr>
          <p:spPr>
            <a:xfrm>
              <a:off x="3358342" y="6425738"/>
              <a:ext cx="49380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Graphs are from the Ack mini-Library analysis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5BFD3D-13A7-3589-F173-77A4A7174BEA}"/>
                </a:ext>
              </a:extLst>
            </p:cNvPr>
            <p:cNvSpPr txBox="1"/>
            <p:nvPr/>
          </p:nvSpPr>
          <p:spPr>
            <a:xfrm>
              <a:off x="7016200" y="2828835"/>
              <a:ext cx="25603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Is visualizing the top 5 most occurring amino acid and their counts per site </a:t>
              </a:r>
            </a:p>
          </p:txBody>
        </p:sp>
      </p:grpSp>
      <p:pic>
        <p:nvPicPr>
          <p:cNvPr id="11" name="Picture 10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FD9F5257-1809-90E0-6831-B63181B37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33" y="2138687"/>
            <a:ext cx="4853017" cy="363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22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411E7CB-21FF-60B9-07AE-A053FB603101}"/>
              </a:ext>
            </a:extLst>
          </p:cNvPr>
          <p:cNvGrpSpPr/>
          <p:nvPr/>
        </p:nvGrpSpPr>
        <p:grpSpPr>
          <a:xfrm>
            <a:off x="770652" y="938358"/>
            <a:ext cx="8805868" cy="5856712"/>
            <a:chOff x="770652" y="938358"/>
            <a:chExt cx="8805868" cy="585671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B2054C5-2F40-3B23-D217-AF03DB5213D8}"/>
                </a:ext>
              </a:extLst>
            </p:cNvPr>
            <p:cNvSpPr txBox="1"/>
            <p:nvPr/>
          </p:nvSpPr>
          <p:spPr>
            <a:xfrm>
              <a:off x="770652" y="938358"/>
              <a:ext cx="68001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Georgia Pro Light" panose="02040302050405020303" pitchFamily="18" charset="0"/>
                </a:rPr>
                <a:t>Graphs:</a:t>
              </a:r>
            </a:p>
            <a:p>
              <a:r>
                <a:rPr lang="en-US" sz="3600" dirty="0">
                  <a:latin typeface="Georgia Pro Light" panose="02040302050405020303" pitchFamily="18" charset="0"/>
                </a:rPr>
                <a:t>Optional***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31EB171-BE50-4D35-0DED-630A4C2983AA}"/>
                </a:ext>
              </a:extLst>
            </p:cNvPr>
            <p:cNvSpPr txBox="1"/>
            <p:nvPr/>
          </p:nvSpPr>
          <p:spPr>
            <a:xfrm>
              <a:off x="3358342" y="6425738"/>
              <a:ext cx="49380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Graphs are from the Ack mini-Library analysis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A7E1DC-1B3B-E778-9FA2-23514C7989A5}"/>
                </a:ext>
              </a:extLst>
            </p:cNvPr>
            <p:cNvSpPr txBox="1"/>
            <p:nvPr/>
          </p:nvSpPr>
          <p:spPr>
            <a:xfrm>
              <a:off x="7016200" y="2837148"/>
              <a:ext cx="256032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Is visualizing the top 5 most occurring full-protein sequences </a:t>
              </a:r>
              <a:r>
                <a:rPr lang="en-US" b="1" i="1" dirty="0"/>
                <a:t>with no missing sites</a:t>
              </a:r>
              <a:r>
                <a:rPr lang="en-US" dirty="0"/>
                <a:t> for the sites and their counts per site </a:t>
              </a:r>
            </a:p>
          </p:txBody>
        </p:sp>
      </p:grpSp>
      <p:pic>
        <p:nvPicPr>
          <p:cNvPr id="8" name="Picture 7" descr="A graph of blue bars&#10;&#10;AI-generated content may be incorrect.">
            <a:extLst>
              <a:ext uri="{FF2B5EF4-FFF2-40B4-BE49-F238E27FC236}">
                <a16:creationId xmlns:a16="http://schemas.microsoft.com/office/drawing/2014/main" id="{0F8FF341-8519-85D9-2AFE-CCD694217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18" y="2138687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87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0AB7D1A3-6F3D-C1E9-4804-0DF89B24A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52" y="2262042"/>
            <a:ext cx="5486400" cy="36576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F8AD290-ABB7-0AA7-A844-5646C4FB441B}"/>
              </a:ext>
            </a:extLst>
          </p:cNvPr>
          <p:cNvGrpSpPr/>
          <p:nvPr/>
        </p:nvGrpSpPr>
        <p:grpSpPr>
          <a:xfrm>
            <a:off x="770652" y="938358"/>
            <a:ext cx="8805868" cy="5856712"/>
            <a:chOff x="770652" y="938358"/>
            <a:chExt cx="8805868" cy="585671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2BBFCDA-34CA-FFEC-4D16-0B5D93302E3A}"/>
                </a:ext>
              </a:extLst>
            </p:cNvPr>
            <p:cNvSpPr txBox="1"/>
            <p:nvPr/>
          </p:nvSpPr>
          <p:spPr>
            <a:xfrm>
              <a:off x="770652" y="938358"/>
              <a:ext cx="68001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Georgia Pro Light" panose="02040302050405020303" pitchFamily="18" charset="0"/>
                </a:rPr>
                <a:t>Graphs:</a:t>
              </a:r>
            </a:p>
            <a:p>
              <a:r>
                <a:rPr lang="en-US" sz="3600" dirty="0">
                  <a:latin typeface="Georgia Pro Light" panose="02040302050405020303" pitchFamily="18" charset="0"/>
                </a:rPr>
                <a:t>Optional***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FEF5BD-0579-2B31-CA5A-583523FFC270}"/>
                </a:ext>
              </a:extLst>
            </p:cNvPr>
            <p:cNvSpPr txBox="1"/>
            <p:nvPr/>
          </p:nvSpPr>
          <p:spPr>
            <a:xfrm>
              <a:off x="3358342" y="6425738"/>
              <a:ext cx="49380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Graphs are from the Ack mini-Library analysis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56E7DC-E0CF-A72A-771D-243C92EAA262}"/>
                </a:ext>
              </a:extLst>
            </p:cNvPr>
            <p:cNvSpPr txBox="1"/>
            <p:nvPr/>
          </p:nvSpPr>
          <p:spPr>
            <a:xfrm>
              <a:off x="7016200" y="2837148"/>
              <a:ext cx="256032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Is visualizing the top 5 most occurring full-protein sequences </a:t>
              </a:r>
              <a:r>
                <a:rPr lang="en-US" b="1" i="1" dirty="0"/>
                <a:t>with missing sites allowed</a:t>
              </a:r>
              <a:r>
                <a:rPr lang="en-US" dirty="0"/>
                <a:t> for the sites and their counts per site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28123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e25847-919c-4471-818e-09145312356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038193A0E7743A7E6756519A9432C" ma:contentTypeVersion="13" ma:contentTypeDescription="Create a new document." ma:contentTypeScope="" ma:versionID="3975a2d664472fb2236e7b60641ecd30">
  <xsd:schema xmlns:xsd="http://www.w3.org/2001/XMLSchema" xmlns:xs="http://www.w3.org/2001/XMLSchema" xmlns:p="http://schemas.microsoft.com/office/2006/metadata/properties" xmlns:ns3="bfe25847-919c-4471-818e-09145312356a" xmlns:ns4="12a373dc-8182-4a1d-ad22-6e3ae98ad41e" targetNamespace="http://schemas.microsoft.com/office/2006/metadata/properties" ma:root="true" ma:fieldsID="5a59e4943714f13fa6dfb0d3d8d56fe9" ns3:_="" ns4:_="">
    <xsd:import namespace="bfe25847-919c-4471-818e-09145312356a"/>
    <xsd:import namespace="12a373dc-8182-4a1d-ad22-6e3ae98ad4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5847-919c-4471-818e-0914531235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373dc-8182-4a1d-ad22-6e3ae98ad41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502982-A8C0-423A-BC29-B33B97F57539}">
  <ds:schemaRefs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12a373dc-8182-4a1d-ad22-6e3ae98ad41e"/>
    <ds:schemaRef ds:uri="http://www.w3.org/XML/1998/namespace"/>
    <ds:schemaRef ds:uri="http://schemas.microsoft.com/office/2006/metadata/properties"/>
    <ds:schemaRef ds:uri="bfe25847-919c-4471-818e-09145312356a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0475313-4C5B-4851-8036-BD170F9EEA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E0F659-2B5A-42A3-B8E0-894C2AE502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25847-919c-4471-818e-09145312356a"/>
    <ds:schemaRef ds:uri="12a373dc-8182-4a1d-ad22-6e3ae98ad4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264</TotalTime>
  <Words>1361</Words>
  <Application>Microsoft Macintosh PowerPoint</Application>
  <PresentationFormat>Widescreen</PresentationFormat>
  <Paragraphs>190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Georgia Pro Cond Light</vt:lpstr>
      <vt:lpstr>Georgia Pro Light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Divyansh, .</dc:creator>
  <cp:lastModifiedBy>Divyansh .</cp:lastModifiedBy>
  <cp:revision>6</cp:revision>
  <dcterms:created xsi:type="dcterms:W3CDTF">2025-04-30T19:02:43Z</dcterms:created>
  <dcterms:modified xsi:type="dcterms:W3CDTF">2025-05-03T00:33:27Z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0x010100368038193A0E7743A7E6756519A9432C</vt:lpwstr>
  </property>
</Properties>
</file>